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3C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205" autoAdjust="0"/>
    <p:restoredTop sz="94610"/>
  </p:normalViewPr>
  <p:slideViewPr>
    <p:cSldViewPr snapToGrid="0" snapToObjects="1">
      <p:cViewPr>
        <p:scale>
          <a:sx n="60" d="100"/>
          <a:sy n="60" d="100"/>
        </p:scale>
        <p:origin x="2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C74"/>
                </a:solidFill>
                <a:latin typeface="Calibri"/>
              </a:defRPr>
            </a:pPr>
            <a:r>
              <a:rPr lang="en-IN" sz="1200" b="0" i="0" u="none" strike="noStrike">
                <a:solidFill>
                  <a:srgbClr val="0B3C74"/>
                </a:solidFill>
                <a:latin typeface="Calibri"/>
              </a:rPr>
              <a:t>Training Benchmark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Selected (25 epochs)</c:v>
                </c:pt>
              </c:strCache>
            </c:strRef>
          </c:tx>
          <c:spPr>
            <a:solidFill>
              <a:srgbClr val="1F6FD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mAP@0.5</c:v>
                </c:pt>
                <c:pt idx="3">
                  <c:v>mAP@0.5:0.95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88.04</c:v>
                </c:pt>
                <c:pt idx="1">
                  <c:v>81.05</c:v>
                </c:pt>
                <c:pt idx="2">
                  <c:v>91.23</c:v>
                </c:pt>
                <c:pt idx="3">
                  <c:v>64.02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5-458F-90CD-25C9C53CEC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(2 epochs)</c:v>
                </c:pt>
              </c:strCache>
            </c:strRef>
          </c:tx>
          <c:spPr>
            <a:solidFill>
              <a:srgbClr val="C9D6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mAP@0.5</c:v>
                </c:pt>
                <c:pt idx="3">
                  <c:v>mAP@0.5:0.95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64.430000000000007</c:v>
                </c:pt>
                <c:pt idx="1">
                  <c:v>53.42</c:v>
                </c:pt>
                <c:pt idx="2">
                  <c:v>58.27</c:v>
                </c:pt>
                <c:pt idx="3">
                  <c:v>30.17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45-458F-90CD-25C9C53CE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3117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B3C7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548640" y="6519672"/>
            <a:ext cx="640080" cy="91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783080" y="6519672"/>
            <a:ext cx="640080" cy="91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017520" y="6519672"/>
            <a:ext cx="640080" cy="91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251960" y="6519672"/>
            <a:ext cx="640080" cy="91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0" y="6519672"/>
            <a:ext cx="640080" cy="91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6519672"/>
            <a:ext cx="640080" cy="91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955280" y="6519672"/>
            <a:ext cx="640080" cy="91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189720" y="6519672"/>
            <a:ext cx="640080" cy="91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24160" y="6519672"/>
            <a:ext cx="640080" cy="91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658600" y="6519672"/>
            <a:ext cx="640080" cy="914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0" descr="/home/claude/build/assets/upes_logo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04" y="246888"/>
            <a:ext cx="3645408" cy="1325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60776" y="18928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· IBM </a:t>
            </a:r>
            <a:r>
              <a:rPr lang="en-US" sz="1300" b="1" kern="0" spc="150" dirty="0" err="1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SkillsBuild</a:t>
            </a:r>
            <a:r>
              <a:rPr lang="en-US" sz="1300" b="1" kern="0" spc="15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Internship PRESENTATION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2240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AI</a:t>
            </a:r>
            <a:endParaRPr lang="en-US" sz="5400" dirty="0"/>
          </a:p>
        </p:txBody>
      </p:sp>
      <p:sp>
        <p:nvSpPr>
          <p:cNvPr id="17" name="Text 14"/>
          <p:cNvSpPr/>
          <p:nvPr/>
        </p:nvSpPr>
        <p:spPr>
          <a:xfrm>
            <a:off x="640080" y="31089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Intelligent Road Pothole Detection &amp; Severity Analysis Platform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40080" y="3794760"/>
            <a:ext cx="4754880" cy="0"/>
          </a:xfrm>
          <a:prstGeom prst="line">
            <a:avLst/>
          </a:prstGeom>
          <a:noFill/>
          <a:ln w="19050">
            <a:solidFill>
              <a:srgbClr val="E1E6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42976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Aditya Khatri  ·  Ujjawal Gupta  ·  Arsh Rathi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30936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BY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309360" y="4297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 err="1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Mritunjaya</a:t>
            </a:r>
            <a:r>
              <a:rPr lang="en-US" sz="15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Kumar  (UPES)</a:t>
            </a:r>
          </a:p>
          <a:p>
            <a:pPr marL="0" indent="0" algn="ctr">
              <a:buNone/>
            </a:pPr>
            <a:r>
              <a:rPr lang="en-US" sz="1500" dirty="0">
                <a:solidFill>
                  <a:srgbClr val="1F2430"/>
                </a:solidFill>
                <a:latin typeface="Times New Roman" pitchFamily="34" charset="0"/>
                <a:cs typeface="Times New Roman" pitchFamily="34" charset="-120"/>
              </a:rPr>
              <a:t>Pooja Kumari (IBM)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4008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DOMAIN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0080" y="5074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Artificial Intelligence &amp; Machine Learning · Computer Vision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" y="5806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AIML74 · UPES Dehradun · IBM SkillsBuild Internship 2025–26</a:t>
            </a:r>
            <a:endParaRPr lang="en-US" sz="1200" dirty="0"/>
          </a:p>
        </p:txBody>
      </p:sp>
      <p:pic>
        <p:nvPicPr>
          <p:cNvPr id="26" name="Picture 25" descr="IBM">
            <a:extLst>
              <a:ext uri="{FF2B5EF4-FFF2-40B4-BE49-F238E27FC236}">
                <a16:creationId xmlns:a16="http://schemas.microsoft.com/office/drawing/2014/main" id="{478DA8B9-3DBD-DB86-5208-175346F9C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-537210"/>
            <a:ext cx="4754880" cy="2674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603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AI — Intelligent Road Pothole Detection &amp; Severity Analysis Platform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33856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30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43000" y="15087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237744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43000" y="32461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43000" y="41148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43000" y="49834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Model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126480" y="1508760"/>
            <a:ext cx="457200" cy="45720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23" name="Text 20"/>
          <p:cNvSpPr/>
          <p:nvPr/>
        </p:nvSpPr>
        <p:spPr>
          <a:xfrm>
            <a:off x="61264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720840" y="15087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126480" y="2377440"/>
            <a:ext cx="457200" cy="45720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26" name="Text 23"/>
          <p:cNvSpPr/>
          <p:nvPr/>
        </p:nvSpPr>
        <p:spPr>
          <a:xfrm>
            <a:off x="61264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720840" y="237744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6126480" y="3246120"/>
            <a:ext cx="457200" cy="45720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29" name="Text 26"/>
          <p:cNvSpPr/>
          <p:nvPr/>
        </p:nvSpPr>
        <p:spPr>
          <a:xfrm>
            <a:off x="61264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720840" y="32461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Comparative Study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6126480" y="4114800"/>
            <a:ext cx="457200" cy="45720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32" name="Text 29"/>
          <p:cNvSpPr/>
          <p:nvPr/>
        </p:nvSpPr>
        <p:spPr>
          <a:xfrm>
            <a:off x="61264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720840" y="41148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6126480" y="4983480"/>
            <a:ext cx="457200" cy="45720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35" name="Text 32"/>
          <p:cNvSpPr/>
          <p:nvPr/>
        </p:nvSpPr>
        <p:spPr>
          <a:xfrm>
            <a:off x="612648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720840" y="49834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800" dirty="0"/>
          </a:p>
        </p:txBody>
      </p:sp>
      <p:pic>
        <p:nvPicPr>
          <p:cNvPr id="38" name="Picture 37" descr="IBM">
            <a:extLst>
              <a:ext uri="{FF2B5EF4-FFF2-40B4-BE49-F238E27FC236}">
                <a16:creationId xmlns:a16="http://schemas.microsoft.com/office/drawing/2014/main" id="{0075FE37-714C-7BF3-DFC1-0F5180A04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242" y="5566611"/>
            <a:ext cx="1840635" cy="1035357"/>
          </a:xfrm>
          <a:prstGeom prst="rect">
            <a:avLst/>
          </a:prstGeom>
        </p:spPr>
      </p:pic>
      <p:pic>
        <p:nvPicPr>
          <p:cNvPr id="40" name="Image 0" descr="/home/claude/build/assets/upes_logo_full.jpg">
            <a:extLst>
              <a:ext uri="{FF2B5EF4-FFF2-40B4-BE49-F238E27FC236}">
                <a16:creationId xmlns:a16="http://schemas.microsoft.com/office/drawing/2014/main" id="{EB945DAA-052C-4F6D-C279-6EEB6D3BC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6675" y="310154"/>
            <a:ext cx="1334561" cy="4853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603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AI — Intelligent Road Pothole Detection &amp; Severity Analysis Platform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33856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30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5532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BACKGROUND OF PROJECT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5532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PaveMind AI is a computer-vision system that detects potholes in dashcam road footage, estimates their real-world size and severity, and reports results through a live analytics dashboard.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468880"/>
            <a:ext cx="5532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CONCEPTS (ALGORITHMS) USED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788920"/>
            <a:ext cx="5532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YOLOv12 Nano</a:t>
            </a:r>
            <a:r>
              <a:rPr lang="en-US" sz="12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object detection, camera-geometry perspective projection for physical sizing, and a multi-factor weighted severity-scoring algorithm.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3520440"/>
            <a:ext cx="5532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840480"/>
            <a:ext cx="5532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Reactive, complaint-driven repair cycles leave road defects unaddressed for weeks and give municipal teams no quantified way to decide which road to fix first.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4572000"/>
            <a:ext cx="5532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4892040"/>
            <a:ext cx="5532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and deploy an end-to-end system that detects potholes from video, measures their physical dimensions without 3D sensors, classifies severity, and ranks roads for maintenance priority.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0" y="141732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OF APPLICATION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0" y="173736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Municipal road-maintenance departments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Fleet-mounted inspection (buses, utility trucks)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Smart-city infrastructure monitoring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Highway authority condition surveys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0" y="320040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INPUT FORMAT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0" y="352044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363931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C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Input:  </a:t>
            </a:r>
            <a:r>
              <a:rPr lang="en-US" sz="11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Dashcam image / video (.jpg, .mp4, .webm)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583680" y="400507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C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Sources:  </a:t>
            </a:r>
            <a:r>
              <a:rPr lang="en-US" sz="11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Kaggle Pothole Dataset + CRDDC / RDD2022 (D40)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583680" y="437083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C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Merged size:  </a:t>
            </a:r>
            <a:r>
              <a:rPr lang="en-US" sz="11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765 images · 2,024 pothole instances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583680" y="473659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C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Coverage:  </a:t>
            </a:r>
            <a:r>
              <a:rPr lang="en-US" sz="11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 conditions across India, USA, Japan</a:t>
            </a:r>
            <a:endParaRPr lang="en-US" sz="1150" dirty="0"/>
          </a:p>
        </p:txBody>
      </p:sp>
      <p:pic>
        <p:nvPicPr>
          <p:cNvPr id="24" name="Picture 23" descr="IBM">
            <a:extLst>
              <a:ext uri="{FF2B5EF4-FFF2-40B4-BE49-F238E27FC236}">
                <a16:creationId xmlns:a16="http://schemas.microsoft.com/office/drawing/2014/main" id="{74493557-1750-D74B-C0D7-A390E315C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242" y="5566611"/>
            <a:ext cx="1840635" cy="1035357"/>
          </a:xfrm>
          <a:prstGeom prst="rect">
            <a:avLst/>
          </a:prstGeom>
        </p:spPr>
      </p:pic>
      <p:pic>
        <p:nvPicPr>
          <p:cNvPr id="26" name="Image 0" descr="/home/claude/build/assets/upes_logo_full.jpg">
            <a:extLst>
              <a:ext uri="{FF2B5EF4-FFF2-40B4-BE49-F238E27FC236}">
                <a16:creationId xmlns:a16="http://schemas.microsoft.com/office/drawing/2014/main" id="{410037C1-DAEF-BAAF-303E-D4CA337DB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6675" y="310154"/>
            <a:ext cx="1334561" cy="4853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603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AI — Intelligent Road Pothole Detection &amp; Severity Analysis Platform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33856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30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RELATED WORK — FROM SENSORS TO REAL-TIME DETECTION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1993392"/>
            <a:ext cx="2322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/ 2015+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13232" y="2267712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Sensors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3232" y="2697480"/>
            <a:ext cx="23225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Accelerometers detect road-induced jolts. Effective in controlled tests but highly sensitive to vehicle suspension and speed.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83280" y="187452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47872" y="1993392"/>
            <a:ext cx="2322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2015+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547872" y="2267712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Classifiers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547872" y="2697480"/>
            <a:ext cx="23225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ResNet / VGG sliding-window detectors improve accuracy over sensors but are too slow for real-time dashcam use.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0" y="187452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82512" y="1993392"/>
            <a:ext cx="2322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2016+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382512" y="2267712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Family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382512" y="2697480"/>
            <a:ext cx="23225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Redmon et al. unify detection and classification in one forward pass. YOLOv5→v12 steadily improve accuracy and efficiency.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052560" y="187452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3E8"/>
          </a:solidFill>
          <a:ln w="19050">
            <a:solidFill>
              <a:srgbClr val="E8720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17152" y="1993392"/>
            <a:ext cx="2322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9217152" y="2267712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AI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217152" y="2697480"/>
            <a:ext cx="23225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YOLOv12n + geometric sizing + severity scoring + full deployment — goes beyond bounding boxes to actionable output.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48640" y="4251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LITERATURE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" y="457200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Published systems typically stop at bounding-box localisation. They rarely provide real-world physical dimensions, multi-tier severity classification, or an end-to-end deployed system.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263640" y="425196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FROM LITERATURE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263640" y="4572000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evolution from sensors to single-pass detectors shows real-time detection is achievable; PaveMind AI's contribution is combining detection with measurement, scoring, and deployment in one pipeline.</a:t>
            </a:r>
            <a:endParaRPr lang="en-US" sz="1250" dirty="0"/>
          </a:p>
        </p:txBody>
      </p:sp>
      <p:pic>
        <p:nvPicPr>
          <p:cNvPr id="29" name="Picture 28" descr="IBM">
            <a:extLst>
              <a:ext uri="{FF2B5EF4-FFF2-40B4-BE49-F238E27FC236}">
                <a16:creationId xmlns:a16="http://schemas.microsoft.com/office/drawing/2014/main" id="{E313F801-7E4D-8821-8582-E3263B386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242" y="5566611"/>
            <a:ext cx="1840635" cy="1035357"/>
          </a:xfrm>
          <a:prstGeom prst="rect">
            <a:avLst/>
          </a:prstGeom>
        </p:spPr>
      </p:pic>
      <p:pic>
        <p:nvPicPr>
          <p:cNvPr id="31" name="Image 0" descr="/home/claude/build/assets/upes_logo_full.jpg">
            <a:extLst>
              <a:ext uri="{FF2B5EF4-FFF2-40B4-BE49-F238E27FC236}">
                <a16:creationId xmlns:a16="http://schemas.microsoft.com/office/drawing/2014/main" id="{CF6F79D3-0E45-2B96-6651-82E78D0E8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6675" y="310154"/>
            <a:ext cx="1334561" cy="4853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603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AI — Intelligent Road Pothole Detection &amp; Severity Analysis Platform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33856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30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15087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design and deploy an AI-based system that detects potholes from road video, estimates their real-world physical size using camera geometry, classifies severity, and produces a single road-health score for maintenance prioritisation.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384048" cy="384048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926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51560" y="29260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Objectives — Five Research Contributions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548640" y="352044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3675888"/>
            <a:ext cx="310896" cy="3108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6758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4069080"/>
            <a:ext cx="18470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Fine-tune YOLOv12 Nano (2.6 M params) achieving mAP@0.5 of 91.23% on a merged 765-image dataset.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788920" y="352044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926080" y="3675888"/>
            <a:ext cx="310896" cy="3108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6758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926080" y="4069080"/>
            <a:ext cx="18470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 camera-geometry-based physical size estimator that needs no 3D sensor hardware.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29200" y="352044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166360" y="3675888"/>
            <a:ext cx="310896" cy="3108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4" name="Text 21"/>
          <p:cNvSpPr/>
          <p:nvPr/>
        </p:nvSpPr>
        <p:spPr>
          <a:xfrm>
            <a:off x="5166360" y="36758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66360" y="4069080"/>
            <a:ext cx="18470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a multi-factor severity score combining size, depth, confidence, aspect ratio and temporal persistence.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269480" y="352044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406640" y="3675888"/>
            <a:ext cx="310896" cy="3108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8" name="Text 25"/>
          <p:cNvSpPr/>
          <p:nvPr/>
        </p:nvSpPr>
        <p:spPr>
          <a:xfrm>
            <a:off x="7406640" y="36758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406640" y="4069080"/>
            <a:ext cx="18470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a seven-stage false-positive mitigation pipeline against sky, clouds, tyre tracks and noise.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9509760" y="352044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646920" y="3675888"/>
            <a:ext cx="310896" cy="3108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32" name="Text 29"/>
          <p:cNvSpPr/>
          <p:nvPr/>
        </p:nvSpPr>
        <p:spPr>
          <a:xfrm>
            <a:off x="9646920" y="36758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646920" y="4069080"/>
            <a:ext cx="18470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 an end-to-end system — FastAPI + MongoDB + React 19 — with a live GPS heatmap dashboard.</a:t>
            </a:r>
            <a:endParaRPr lang="en-US" sz="1050" dirty="0"/>
          </a:p>
        </p:txBody>
      </p:sp>
      <p:pic>
        <p:nvPicPr>
          <p:cNvPr id="35" name="Picture 34" descr="IBM">
            <a:extLst>
              <a:ext uri="{FF2B5EF4-FFF2-40B4-BE49-F238E27FC236}">
                <a16:creationId xmlns:a16="http://schemas.microsoft.com/office/drawing/2014/main" id="{17C8C53F-0E89-609D-DAF6-356271062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242" y="5566611"/>
            <a:ext cx="1840635" cy="1035357"/>
          </a:xfrm>
          <a:prstGeom prst="rect">
            <a:avLst/>
          </a:prstGeom>
        </p:spPr>
      </p:pic>
      <p:pic>
        <p:nvPicPr>
          <p:cNvPr id="37" name="Image 0" descr="/home/claude/build/assets/upes_logo_full.jpg">
            <a:extLst>
              <a:ext uri="{FF2B5EF4-FFF2-40B4-BE49-F238E27FC236}">
                <a16:creationId xmlns:a16="http://schemas.microsoft.com/office/drawing/2014/main" id="{004E3A1D-7089-5DAE-FB15-E11B473B8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6675" y="310154"/>
            <a:ext cx="1334561" cy="4853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603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AI — Intelligent Road Pothole Detection &amp; Severity Analysis Platform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33856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30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755648"/>
            <a:ext cx="274320" cy="27432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60120" y="170078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 / image input uploaded via the React dashboard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176272"/>
            <a:ext cx="274320" cy="27432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176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60120" y="2121408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YOLOv12 Nano inference detects candidate potholes per frame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2596896"/>
            <a:ext cx="274320" cy="27432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596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60120" y="2542032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Seven-stage geometric + confidence gate rejects false positives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017520"/>
            <a:ext cx="274320" cy="27432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60120" y="2962656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Camera-geometry projection converts pixels to real-world cm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3438144"/>
            <a:ext cx="274320" cy="27432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438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60120" y="338328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Multi-factor scoring assigns Minor / Moderate / Severe class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3858768"/>
            <a:ext cx="274320" cy="274320"/>
          </a:xfrm>
          <a:prstGeom prst="ellipse">
            <a:avLst/>
          </a:prstGeom>
          <a:solidFill>
            <a:srgbClr val="1F6FD1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858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60120" y="380390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 Health Index (0–100) aggregated and pushed to MongoDB / dashboard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48640" y="44348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48640" y="47548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C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/ Vision:  </a:t>
            </a:r>
            <a:r>
              <a:rPr lang="en-US" sz="11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YOLOv12n · Ultralytics · ByteTrack · OpenCV · NumPy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48640" y="51206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C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Backend:  </a:t>
            </a:r>
            <a:r>
              <a:rPr lang="en-US" sz="11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 · MongoDB Atlas · PyMongo · imageio + FFmpeg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48640" y="5486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C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Frontend:  </a:t>
            </a:r>
            <a:r>
              <a:rPr lang="en-US" sz="11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19 + Vite · Leaflet · Recharts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8275320" y="14173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TIMELINE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8275320" y="178308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E1E6E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412480" y="190195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F6FD1"/>
          </a:solidFill>
          <a:ln/>
        </p:spPr>
      </p:sp>
      <p:sp>
        <p:nvSpPr>
          <p:cNvPr id="33" name="Text 30"/>
          <p:cNvSpPr/>
          <p:nvPr/>
        </p:nvSpPr>
        <p:spPr>
          <a:xfrm>
            <a:off x="8412480" y="19019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412480" y="23134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merge, YOLOv12n fine-tuning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412480" y="2788920"/>
            <a:ext cx="1072134" cy="128016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36" name="Text 33"/>
          <p:cNvSpPr/>
          <p:nvPr/>
        </p:nvSpPr>
        <p:spPr>
          <a:xfrm>
            <a:off x="8412480" y="2651760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8275320" y="320040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E1E6E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412480" y="331927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F6FD1"/>
          </a:solidFill>
          <a:ln/>
        </p:spPr>
      </p:sp>
      <p:sp>
        <p:nvSpPr>
          <p:cNvPr id="39" name="Text 36"/>
          <p:cNvSpPr/>
          <p:nvPr/>
        </p:nvSpPr>
        <p:spPr>
          <a:xfrm>
            <a:off x="8412480" y="33192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8412480" y="37307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FP-mitigation, severity engine, RHI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412480" y="4206240"/>
            <a:ext cx="2144268" cy="128016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42" name="Text 39"/>
          <p:cNvSpPr/>
          <p:nvPr/>
        </p:nvSpPr>
        <p:spPr>
          <a:xfrm>
            <a:off x="8412480" y="4069080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8275320" y="46177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E1E6E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412480" y="473659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F6FD1"/>
          </a:solidFill>
          <a:ln/>
        </p:spPr>
      </p:sp>
      <p:sp>
        <p:nvSpPr>
          <p:cNvPr id="45" name="Text 42"/>
          <p:cNvSpPr/>
          <p:nvPr/>
        </p:nvSpPr>
        <p:spPr>
          <a:xfrm>
            <a:off x="8412480" y="47365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8412480" y="51480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 + React dashboard, deployment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412480" y="5623560"/>
            <a:ext cx="3063240" cy="128016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48" name="Text 45"/>
          <p:cNvSpPr/>
          <p:nvPr/>
        </p:nvSpPr>
        <p:spPr>
          <a:xfrm>
            <a:off x="8412480" y="5486400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603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MODEL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AI — Intelligent Road Pothole Detection &amp; Severity Analysis Platform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33856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30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Model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THREE LAYERS, ONE DEPLOYABLE SYSTEM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538728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938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" y="2304288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Analysis Engine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2670048"/>
            <a:ext cx="31729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inference &amp; analysis core — SeverityEngine, AlertSystem, AnalyticsManager, Visualizer built on Python, Ultralytics, OpenCV, NumPy.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61104" y="1828800"/>
            <a:ext cx="3538728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43984" y="1938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443984" y="2304288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Backend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443984" y="2670048"/>
            <a:ext cx="31729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endpoints, non-blocking pipeline — FastAPI + MongoDB Atlas with transparent local-JSON fallback, ByteTrack tracking, H.264 export.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973568" y="1828800"/>
            <a:ext cx="3538728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56448" y="1938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156448" y="2304288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156448" y="2670048"/>
            <a:ext cx="31729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Premium React 19 + Vite SPA — KPI overview, drag-and-drop image analyzer, video tracker with live progress, Leaflet GPS heatmap.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48640" y="388620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CLASSES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420624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2E9E5B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42793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45902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 0.45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331720" y="420624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E8A33D"/>
          </a:solidFill>
          <a:ln/>
        </p:spPr>
      </p:sp>
      <p:sp>
        <p:nvSpPr>
          <p:cNvPr id="25" name="Text 22"/>
          <p:cNvSpPr/>
          <p:nvPr/>
        </p:nvSpPr>
        <p:spPr>
          <a:xfrm>
            <a:off x="2331720" y="42793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331720" y="45902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0.45–0.70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114800" y="420624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D64545"/>
          </a:solidFill>
          <a:ln/>
        </p:spPr>
      </p:sp>
      <p:sp>
        <p:nvSpPr>
          <p:cNvPr id="28" name="Text 25"/>
          <p:cNvSpPr/>
          <p:nvPr/>
        </p:nvSpPr>
        <p:spPr>
          <a:xfrm>
            <a:off x="4114800" y="42793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114800" y="45902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≥ 0.70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263640" y="388620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263640" y="4206240"/>
            <a:ext cx="5349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Web-based AI platform with automated pothole detection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cm-accurate severity scoring and Road Health Index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 GPS heatmap and one-click CSV / JSON / media export</a:t>
            </a:r>
            <a:endParaRPr lang="en-US" sz="1200" dirty="0"/>
          </a:p>
        </p:txBody>
      </p:sp>
      <p:pic>
        <p:nvPicPr>
          <p:cNvPr id="33" name="Picture 32" descr="IBM">
            <a:extLst>
              <a:ext uri="{FF2B5EF4-FFF2-40B4-BE49-F238E27FC236}">
                <a16:creationId xmlns:a16="http://schemas.microsoft.com/office/drawing/2014/main" id="{CB471F63-96BF-C019-2C12-003ABA3A5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242" y="5566611"/>
            <a:ext cx="1840635" cy="1035357"/>
          </a:xfrm>
          <a:prstGeom prst="rect">
            <a:avLst/>
          </a:prstGeom>
        </p:spPr>
      </p:pic>
      <p:pic>
        <p:nvPicPr>
          <p:cNvPr id="35" name="Image 0" descr="/home/claude/build/assets/upes_logo_full.jpg">
            <a:extLst>
              <a:ext uri="{FF2B5EF4-FFF2-40B4-BE49-F238E27FC236}">
                <a16:creationId xmlns:a16="http://schemas.microsoft.com/office/drawing/2014/main" id="{216207CD-1D14-3FC5-A72A-3C3E0A260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6675" y="310154"/>
            <a:ext cx="1334561" cy="4853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603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AI — Intelligent Road Pothole Detection &amp; Severity Analysis Platform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33856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30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HEALTH INDEX — THE HEADLINE METRIC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6766560" cy="685800"/>
          </a:xfrm>
          <a:prstGeom prst="roundRect">
            <a:avLst>
              <a:gd name="adj" fmla="val 8000"/>
            </a:avLst>
          </a:prstGeom>
          <a:solidFill>
            <a:srgbClr val="EAF2FD"/>
          </a:solidFill>
          <a:ln w="12700">
            <a:solidFill>
              <a:srgbClr val="1F6FD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783080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 = max( 0, 100 − 15×N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063240" y="215798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611880" y="178308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− 6×N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251960" y="215798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74920" y="178308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− 2×N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715000" y="215798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" y="2697480"/>
            <a:ext cx="320040" cy="32004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85–100  —  Excellent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081528"/>
            <a:ext cx="320040" cy="320040"/>
          </a:xfrm>
          <a:prstGeom prst="rect">
            <a:avLst/>
          </a:prstGeom>
          <a:solidFill>
            <a:srgbClr val="6FB98F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0815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60–84  —  Acceptable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3465576"/>
            <a:ext cx="320040" cy="320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0" name="Text 17"/>
          <p:cNvSpPr/>
          <p:nvPr/>
        </p:nvSpPr>
        <p:spPr>
          <a:xfrm>
            <a:off x="960120" y="34655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30–59  —  Poor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849624"/>
            <a:ext cx="320040" cy="32004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8496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0–29  —  Critical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434340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SCAN OUTPUT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466344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473659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548640" y="528523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Good road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880360" y="466344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80360" y="473659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2880360" y="528523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Poor road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212080" y="466344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12080" y="473659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32" name="Text 29"/>
          <p:cNvSpPr/>
          <p:nvPr/>
        </p:nvSpPr>
        <p:spPr>
          <a:xfrm>
            <a:off x="5212080" y="528523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Critical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635240" y="141732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635240" y="1783080"/>
            <a:ext cx="39776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Annotated image analysis with severity labels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Frame-by-frame video processing, re-encoded MP4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 Minor / Moderate / Severe grading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 GPS heatmap of detections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One-click ZIP report: CSV + JSON + processed media</a:t>
            </a:r>
            <a:endParaRPr lang="en-US" sz="1200" dirty="0"/>
          </a:p>
        </p:txBody>
      </p:sp>
      <p:pic>
        <p:nvPicPr>
          <p:cNvPr id="36" name="Picture 35" descr="IBM">
            <a:extLst>
              <a:ext uri="{FF2B5EF4-FFF2-40B4-BE49-F238E27FC236}">
                <a16:creationId xmlns:a16="http://schemas.microsoft.com/office/drawing/2014/main" id="{4248DB1B-0F42-05CE-963A-8FDBC36C4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242" y="5566611"/>
            <a:ext cx="1840635" cy="1035357"/>
          </a:xfrm>
          <a:prstGeom prst="rect">
            <a:avLst/>
          </a:prstGeom>
        </p:spPr>
      </p:pic>
      <p:pic>
        <p:nvPicPr>
          <p:cNvPr id="38" name="Image 0" descr="/home/claude/build/assets/upes_logo_full.jpg">
            <a:extLst>
              <a:ext uri="{FF2B5EF4-FFF2-40B4-BE49-F238E27FC236}">
                <a16:creationId xmlns:a16="http://schemas.microsoft.com/office/drawing/2014/main" id="{44FA33D7-CB83-0F2C-0D9E-24578516A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6675" y="310154"/>
            <a:ext cx="1334561" cy="4853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603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AI — Intelligent Road Pothole Detection &amp; Severity Analysis Platform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33856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r>
              <a:rPr lang="en-US" sz="30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BENCHMARK — 25-EPOCH CONFIGURATION VS. 2-EPOCH BASELINE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8470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91.23%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4864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mAP@0.5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651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+56.6% vs 2-epoch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73552" y="17830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73552" y="18470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64.02%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273552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mAP@0.5:0.95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73552" y="2651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+112.2% vs 2-epoch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98464" y="17830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98464" y="18470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88.04%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998464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98464" y="2651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+36.6% vs 2-epoch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723376" y="17830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23376" y="18470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5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81.05%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8723376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Recall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723376" y="2651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+51.8% vs 2-epoch</a:t>
            </a:r>
            <a:endParaRPr lang="en-US" sz="95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548640" y="3246120"/>
          <a:ext cx="64922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Text 21"/>
          <p:cNvSpPr/>
          <p:nvPr/>
        </p:nvSpPr>
        <p:spPr>
          <a:xfrm>
            <a:off x="7360920" y="324612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RUNTIME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7360920" y="3611880"/>
            <a:ext cx="4251960" cy="621792"/>
          </a:xfrm>
          <a:prstGeom prst="roundRect">
            <a:avLst>
              <a:gd name="adj" fmla="val 8824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543800" y="361188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 CPU latency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9692640" y="361188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281.4 ms / frame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7360920" y="4361688"/>
            <a:ext cx="4251960" cy="621792"/>
          </a:xfrm>
          <a:prstGeom prst="roundRect">
            <a:avLst>
              <a:gd name="adj" fmla="val 8824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543800" y="436168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9692640" y="4361688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3.55 FPS (CPU)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7360920" y="5111496"/>
            <a:ext cx="4251960" cy="621792"/>
          </a:xfrm>
          <a:prstGeom prst="roundRect">
            <a:avLst>
              <a:gd name="adj" fmla="val 8824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543800" y="5111496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size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9692640" y="511149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2.56 M params · 6.3 GFLOPs</a:t>
            </a:r>
            <a:endParaRPr lang="en-US" sz="1150" dirty="0"/>
          </a:p>
        </p:txBody>
      </p:sp>
      <p:pic>
        <p:nvPicPr>
          <p:cNvPr id="38" name="Image 0" descr="/home/claude/build/assets/upes_logo_full.jpg">
            <a:extLst>
              <a:ext uri="{FF2B5EF4-FFF2-40B4-BE49-F238E27FC236}">
                <a16:creationId xmlns:a16="http://schemas.microsoft.com/office/drawing/2014/main" id="{ADDC9BEE-BDCE-D4D6-CD64-2E17A2190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6675" y="310154"/>
            <a:ext cx="1334561" cy="4853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603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STUDY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AI — Intelligent Road Pothole Detection &amp; Severity Analysis Platform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33856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r>
              <a:rPr lang="en-US" sz="30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Study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DETECTION PERFORMANCE — REAL INDIAN ROAD FOOTAGE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783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692-frame sequence · 2,302 total detections · 5.5 FPS average on CPU · mean confidence 0.57 · avg. pothole width 73.7 cm.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692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548640" y="2788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Frames processed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73552" y="224028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73552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2,302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3273552" y="2788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detections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98464" y="224028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98464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7C5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181.9 ms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5998464" y="2788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Avg. per frame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723376" y="224028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23376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FPS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8723376" y="2788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CPU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" y="342900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BREAKDOWN (692-FRAME TEST SEQUENCE)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3767328"/>
            <a:ext cx="274320" cy="27432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373989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SEVERE   852  (37.0%)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4151376"/>
            <a:ext cx="274320" cy="2743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5" name="Text 22"/>
          <p:cNvSpPr/>
          <p:nvPr/>
        </p:nvSpPr>
        <p:spPr>
          <a:xfrm>
            <a:off x="960120" y="4123944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MODERATE   719  (31.2%)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4535424"/>
            <a:ext cx="274320" cy="27432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27" name="Text 24"/>
          <p:cNvSpPr/>
          <p:nvPr/>
        </p:nvSpPr>
        <p:spPr>
          <a:xfrm>
            <a:off x="960120" y="450799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MINOR   731  (31.8%)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080760" y="3429000"/>
            <a:ext cx="5532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STUDY — 25 VS. 2 TRAINING EPOCHS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3767328"/>
          <a:ext cx="5532120" cy="1389888"/>
        </p:xfrm>
        <a:graphic>
          <a:graphicData uri="http://schemas.openxmlformats.org/drawingml/2006/table">
            <a:tbl>
              <a:tblPr/>
              <a:tblGrid>
                <a:gridCol w="1383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Epochs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Epochs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88.04%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64.43%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+36.6%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81.05%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53.42%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+51.8%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mAP@0.5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91.23%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58.27%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+56.6%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Text 26"/>
          <p:cNvSpPr/>
          <p:nvPr/>
        </p:nvSpPr>
        <p:spPr>
          <a:xfrm>
            <a:off x="548640" y="502920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STUDIES — MANUAL VS. AUTOMATED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548640" y="537667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road surveys are slow, subjective and inconsistent across inspectors; PaveMind AI produces faster, consistent, unbiased severity scores.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 ranking of roads removes the manual effort of prioritising repair order across hundreds of kilometres of road network.</a:t>
            </a:r>
            <a:endParaRPr lang="en-US" sz="1200" dirty="0"/>
          </a:p>
        </p:txBody>
      </p:sp>
      <p:pic>
        <p:nvPicPr>
          <p:cNvPr id="35" name="Image 0" descr="/home/claude/build/assets/upes_logo_full.jpg">
            <a:extLst>
              <a:ext uri="{FF2B5EF4-FFF2-40B4-BE49-F238E27FC236}">
                <a16:creationId xmlns:a16="http://schemas.microsoft.com/office/drawing/2014/main" id="{95F5FE80-769C-DA61-D26D-9286B19D6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675" y="310154"/>
            <a:ext cx="1334561" cy="4853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603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AI — Intelligent Road Pothole Detection &amp; Severity Analysis Platform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33856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r>
              <a:rPr lang="en-US" sz="30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OF OBJECTIVES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783080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successfully demonstrates an AI-based system for pothole detection, real-world size estimation, and severity scoring — achieving mAP@0.5 = 91.23% and Precision = 88.04% at just 2.6 M parameters, and delivering an end-to-end deployed FastAPI + MongoDB + React dashboard rather than a research notebook.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794760"/>
            <a:ext cx="201168" cy="20116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73989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 accuracy — 91.23% mAP@0.5 at 2.6M params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4251960"/>
            <a:ext cx="201168" cy="20116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19709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Actionable output — real-world cm measurements, no 3D sensor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709160"/>
            <a:ext cx="201168" cy="20116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465429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deployment — REST API + MongoDB + React dashboard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5166360"/>
            <a:ext cx="201168" cy="20116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511149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Robust in the wild — handles Indian, US, and Japanese road conditions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63640" y="141732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63640" y="1783080"/>
            <a:ext cx="5349240" cy="621792"/>
          </a:xfrm>
          <a:prstGeom prst="roundRect">
            <a:avLst>
              <a:gd name="adj" fmla="val 8824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82512" y="1938528"/>
            <a:ext cx="310896" cy="3108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0" name="Text 17"/>
          <p:cNvSpPr/>
          <p:nvPr/>
        </p:nvSpPr>
        <p:spPr>
          <a:xfrm>
            <a:off x="6382512" y="19385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12280" y="1783080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GPU Inference — </a:t>
            </a: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 on CUDA server for 30+ FPS real-time video.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63640" y="2514600"/>
            <a:ext cx="5349240" cy="621792"/>
          </a:xfrm>
          <a:prstGeom prst="roundRect">
            <a:avLst>
              <a:gd name="adj" fmla="val 8824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82512" y="2670048"/>
            <a:ext cx="310896" cy="3108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4" name="Text 21"/>
          <p:cNvSpPr/>
          <p:nvPr/>
        </p:nvSpPr>
        <p:spPr>
          <a:xfrm>
            <a:off x="6382512" y="2670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12280" y="2514600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Monocular Depth — </a:t>
            </a: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 MiDaS to replace geometric depth approximation.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263640" y="3246120"/>
            <a:ext cx="5349240" cy="621792"/>
          </a:xfrm>
          <a:prstGeom prst="roundRect">
            <a:avLst>
              <a:gd name="adj" fmla="val 8824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82512" y="3401568"/>
            <a:ext cx="310896" cy="3108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28" name="Text 25"/>
          <p:cNvSpPr/>
          <p:nvPr/>
        </p:nvSpPr>
        <p:spPr>
          <a:xfrm>
            <a:off x="6382512" y="34015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12280" y="3246120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Application — </a:t>
            </a: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Native app for field inspection teams.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263640" y="3977640"/>
            <a:ext cx="5349240" cy="621792"/>
          </a:xfrm>
          <a:prstGeom prst="roundRect">
            <a:avLst>
              <a:gd name="adj" fmla="val 8824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82512" y="4133088"/>
            <a:ext cx="310896" cy="3108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32" name="Text 29"/>
          <p:cNvSpPr/>
          <p:nvPr/>
        </p:nvSpPr>
        <p:spPr>
          <a:xfrm>
            <a:off x="6382512" y="41330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812280" y="3977640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 Authority API — </a:t>
            </a: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Municipal integration with automated SMS / email alerts.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263640" y="4709160"/>
            <a:ext cx="5349240" cy="621792"/>
          </a:xfrm>
          <a:prstGeom prst="roundRect">
            <a:avLst>
              <a:gd name="adj" fmla="val 8824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82512" y="4864608"/>
            <a:ext cx="310896" cy="310896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36" name="Text 33"/>
          <p:cNvSpPr/>
          <p:nvPr/>
        </p:nvSpPr>
        <p:spPr>
          <a:xfrm>
            <a:off x="6382512" y="4864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812280" y="4709160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C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Deployment — </a:t>
            </a: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Vercel + Hugging Face Spaces for public demo access.</a:t>
            </a:r>
            <a:endParaRPr lang="en-US" sz="1050" dirty="0"/>
          </a:p>
        </p:txBody>
      </p:sp>
      <p:pic>
        <p:nvPicPr>
          <p:cNvPr id="39" name="Picture 38" descr="IBM">
            <a:extLst>
              <a:ext uri="{FF2B5EF4-FFF2-40B4-BE49-F238E27FC236}">
                <a16:creationId xmlns:a16="http://schemas.microsoft.com/office/drawing/2014/main" id="{A2457037-C274-F7EB-49A6-18D29689E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242" y="5566611"/>
            <a:ext cx="1840635" cy="1035357"/>
          </a:xfrm>
          <a:prstGeom prst="rect">
            <a:avLst/>
          </a:prstGeom>
        </p:spPr>
      </p:pic>
      <p:pic>
        <p:nvPicPr>
          <p:cNvPr id="41" name="Image 0" descr="/home/claude/build/assets/upes_logo_full.jpg">
            <a:extLst>
              <a:ext uri="{FF2B5EF4-FFF2-40B4-BE49-F238E27FC236}">
                <a16:creationId xmlns:a16="http://schemas.microsoft.com/office/drawing/2014/main" id="{C6D37ECE-C3C6-3CCD-AEDC-748810059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6675" y="310154"/>
            <a:ext cx="1334561" cy="4853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603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2881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AI — Intelligent Road Pothole Detection &amp; Severity Analysis Platform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338560" y="6528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r>
              <a:rPr lang="en-US" sz="3000" b="1" dirty="0">
                <a:solidFill>
                  <a:srgbClr val="0B3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REFERENCED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9202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Redmon, J. et al. (2016) – You Only Look Once: Unified, Real-Time Object Detection.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Ultralytics (2024) – YOLOv12: Attention-Centric Real-Time Object Detectors.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Arya, D. et al. (2022) – RDD2022: A multi-national road damage dataset (CRDDC).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Kaggle Pothole Detection Dataset – open road-surface imagery collection.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74904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CITED PAPERS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11480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2025 – Problem Statement, Ministry of Road Transport &amp; Highways.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Wang, C.-Y. et al. (2023) – Reversed Residual Networks and Efficient Layer Aggregation (ELAN).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OpenCV / Ultralytics documentation – ByteTrack multi-object tracking.</a:t>
            </a:r>
            <a:endParaRPr lang="en-US" sz="1300" dirty="0"/>
          </a:p>
        </p:txBody>
      </p:sp>
      <p:pic>
        <p:nvPicPr>
          <p:cNvPr id="12" name="Picture 11" descr="IBM">
            <a:extLst>
              <a:ext uri="{FF2B5EF4-FFF2-40B4-BE49-F238E27FC236}">
                <a16:creationId xmlns:a16="http://schemas.microsoft.com/office/drawing/2014/main" id="{2CAA7450-DE24-EEE0-7144-E10486FBB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242" y="5566611"/>
            <a:ext cx="1840635" cy="1035357"/>
          </a:xfrm>
          <a:prstGeom prst="rect">
            <a:avLst/>
          </a:prstGeom>
        </p:spPr>
      </p:pic>
      <p:pic>
        <p:nvPicPr>
          <p:cNvPr id="14" name="Image 0" descr="/home/claude/build/assets/upes_logo_full.jpg">
            <a:extLst>
              <a:ext uri="{FF2B5EF4-FFF2-40B4-BE49-F238E27FC236}">
                <a16:creationId xmlns:a16="http://schemas.microsoft.com/office/drawing/2014/main" id="{BD0B7777-C44A-2DD0-4757-6A97B3613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6675" y="310154"/>
            <a:ext cx="1334561" cy="4853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/home/claude/build/assets/upes_logo_full.jpg">
            <a:extLst>
              <a:ext uri="{FF2B5EF4-FFF2-40B4-BE49-F238E27FC236}">
                <a16:creationId xmlns:a16="http://schemas.microsoft.com/office/drawing/2014/main" id="{CF06845A-98D6-4811-82BF-7BFE340C6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78" y="1228126"/>
            <a:ext cx="11761090" cy="427765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D6628D2-4AD8-8B82-4E31-C9FD01455489}"/>
              </a:ext>
            </a:extLst>
          </p:cNvPr>
          <p:cNvSpPr/>
          <p:nvPr/>
        </p:nvSpPr>
        <p:spPr>
          <a:xfrm>
            <a:off x="-285497" y="-144780"/>
            <a:ext cx="12588240" cy="7147560"/>
          </a:xfrm>
          <a:prstGeom prst="rect">
            <a:avLst/>
          </a:prstGeom>
          <a:solidFill>
            <a:srgbClr val="0B3C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0"/>
          <p:cNvSpPr/>
          <p:nvPr/>
        </p:nvSpPr>
        <p:spPr>
          <a:xfrm>
            <a:off x="822960" y="2651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82296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822960" y="4206240"/>
            <a:ext cx="4572000" cy="0"/>
          </a:xfrm>
          <a:prstGeom prst="line">
            <a:avLst/>
          </a:prstGeom>
          <a:noFill/>
          <a:ln w="15875">
            <a:solidFill>
              <a:srgbClr val="3E5F8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Aditya Khatri  ·  Ujjawal Gupta  ·  Arsh Rathi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166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· AIML · UPES Dehradun · IBM SkillsBuild Internship 2025–26</a:t>
            </a:r>
            <a:endParaRPr lang="en-US" sz="11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6A7FF23-25D7-7B29-EF74-C1704E018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63" y="-268877"/>
            <a:ext cx="4131137" cy="4131137"/>
          </a:xfrm>
          <a:prstGeom prst="rect">
            <a:avLst/>
          </a:prstGeom>
        </p:spPr>
      </p:pic>
      <p:pic>
        <p:nvPicPr>
          <p:cNvPr id="9" name="Picture 8" descr="IBM">
            <a:extLst>
              <a:ext uri="{FF2B5EF4-FFF2-40B4-BE49-F238E27FC236}">
                <a16:creationId xmlns:a16="http://schemas.microsoft.com/office/drawing/2014/main" id="{189C76CB-DB33-BB1D-5041-E490004E1F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623" y="515019"/>
            <a:ext cx="4634673" cy="26070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1647</TotalTime>
  <Words>1675</Words>
  <Application>Microsoft Office PowerPoint</Application>
  <PresentationFormat>Widescreen</PresentationFormat>
  <Paragraphs>296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 Kh</cp:lastModifiedBy>
  <cp:revision>8</cp:revision>
  <dcterms:created xsi:type="dcterms:W3CDTF">2026-08-07T08:00:05Z</dcterms:created>
  <dcterms:modified xsi:type="dcterms:W3CDTF">2026-08-11T06:15:36Z</dcterms:modified>
</cp:coreProperties>
</file>