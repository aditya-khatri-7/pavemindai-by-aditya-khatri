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confidence. Say the tagline out loud, then hand over or click to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pain: manual, slow, unquantified. Emphasize there's no ranked list today — municipal teams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Detect → Grade → Prioritise. Every other slide expands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output on a real Indian road scene. Point out: each box has severity + cm dimensions. The red banner at bottom is the live driver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 through the pipeline. Emphasize the two engineering wins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stack briefly. If asked why FastAPI, say async background tasks. If asked why YOLO, say single-pass =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tiers. Emphasize that thresholds are on REAL centimetres, not pixel area — so distance-independent.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Say: this number is what makes it actionable — a city can rank 500 roads in one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chart the system generates. Point at each quadrant using the legend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zero hardware cost. Just software on top of dashcams that fleets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tagline. Invite questions. Have the dashboard ready to demo live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F9E4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4FB3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🛣️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 ·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PavemindAI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spc="-100" kern="0" dirty="0">
                <a:solidFill>
                  <a:srgbClr val="FF9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Pothole Detection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Road Safety Intelligence Platform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5303520"/>
            <a:ext cx="45720" cy="822960"/>
          </a:xfrm>
          <a:prstGeom prst="rect">
            <a:avLst/>
          </a:prstGeom>
          <a:solidFill>
            <a:srgbClr val="FF9E4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303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Internship Project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74  ·  AIML74  ·  UPES Dehradun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76895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 BY  ADITYA  KHATRI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 are failing faster than they're inspected.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pothole surveying is slow, subjective, and stops the moment someone stops looking.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2328" y="23774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6648" y="2697480"/>
            <a:ext cx="128016" cy="128016"/>
          </a:xfrm>
          <a:prstGeom prst="ellipse">
            <a:avLst/>
          </a:prstGeom>
          <a:solidFill>
            <a:srgbClr val="FF9E45"/>
          </a:solidFill>
          <a:ln/>
        </p:spPr>
      </p:sp>
      <p:sp>
        <p:nvSpPr>
          <p:cNvPr id="7" name="Text 5"/>
          <p:cNvSpPr/>
          <p:nvPr/>
        </p:nvSpPr>
        <p:spPr>
          <a:xfrm>
            <a:off x="1066648" y="2926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FF9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66648" y="3977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reported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in India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9928" y="23774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4248" y="2697480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724248" y="2926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9,300+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724248" y="3977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Road-crash deaths linked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poor road conditions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7528" y="237744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81848" y="2697480"/>
            <a:ext cx="128016" cy="128016"/>
          </a:xfrm>
          <a:prstGeom prst="ellipse">
            <a:avLst/>
          </a:prstGeom>
          <a:solidFill>
            <a:srgbClr val="4FB3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848" y="29260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4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81848" y="3977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way to 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for repair priority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5120640"/>
            <a:ext cx="9448495" cy="1005840"/>
          </a:xfrm>
          <a:prstGeom prst="roundRect">
            <a:avLst>
              <a:gd name="adj" fmla="val 7273"/>
            </a:avLst>
          </a:prstGeom>
          <a:solidFill>
            <a:srgbClr val="141B33"/>
          </a:solidFill>
          <a:ln w="12700">
            <a:solidFill>
              <a:srgbClr val="FF9E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120640"/>
            <a:ext cx="9082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"Cities can't fix what they can't measure.</a:t>
            </a:r>
            <a:pPr algn="ctr" indent="0" marL="0">
              <a:buNone/>
            </a:pPr>
            <a:r>
              <a:rPr lang="en-US" sz="1600" i="1" dirty="0">
                <a:solidFill>
                  <a:srgbClr val="B8C4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PavemindAI turns any dashcam into a road-condition sensor."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system. From dashcam to decision.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workflow — detect, grade, and prioritise every pothole automatically.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65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6728" y="2743200"/>
            <a:ext cx="1005840" cy="1005840"/>
          </a:xfrm>
          <a:prstGeom prst="ellipse">
            <a:avLst/>
          </a:prstGeom>
          <a:solidFill>
            <a:srgbClr val="4FB3FF">
              <a:alpha val="18000"/>
            </a:srgbClr>
          </a:solidFill>
          <a:ln w="19050">
            <a:solidFill>
              <a:srgbClr val="4FB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6728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92328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4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328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every pothole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2328" y="4846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Custom-trained YOLOv12 model scans image and video, identifying potholes frame by frame with tight bounding boxes.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27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928" y="2743200"/>
            <a:ext cx="1005840" cy="1005840"/>
          </a:xfrm>
          <a:prstGeom prst="ellipse">
            <a:avLst/>
          </a:prstGeom>
          <a:solidFill>
            <a:srgbClr val="FF9E45">
              <a:alpha val="18000"/>
            </a:srgbClr>
          </a:solidFill>
          <a:ln w="19050">
            <a:solidFill>
              <a:srgbClr val="FF9E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2928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78528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8528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how bad it is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78528" y="4846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pothole is measured in real-world centimetres and classified as Minor, Moderate, or Severe using a multi-factor score.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89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9128" y="2743200"/>
            <a:ext cx="1005840" cy="1005840"/>
          </a:xfrm>
          <a:prstGeom prst="ellipse">
            <a:avLst/>
          </a:prstGeom>
          <a:solidFill>
            <a:srgbClr val="A78BFA">
              <a:alpha val="18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9128" y="2743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64728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64728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the roads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64728" y="4846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0–100 Road Health Score per scan tells maintenance teams which roads to repair first — on an interactive dashboard.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IN 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one frame from the 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potholes detected · every one measured in cm · overall alert: DANGER</a:t>
            </a:r>
            <a:endParaRPr lang="en-US" sz="1400" dirty="0"/>
          </a:p>
        </p:txBody>
      </p:sp>
      <p:pic>
        <p:nvPicPr>
          <p:cNvPr id="5" name="Image 0" descr="D:\Projects\IBM Internship\backend\static\outputs\severity_img_1783839683_input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03120"/>
            <a:ext cx="77724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0" y="22860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0" y="260604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9692640" y="23774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0515600" y="2377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0" y="33832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0" y="37033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9692640" y="34747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10515600" y="34747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0" y="44805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0" y="480060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9692640" y="4572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0515600" y="4572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56235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1E2745"/>
          </a:solidFill>
          <a:ln w="9525">
            <a:solidFill>
              <a:srgbClr val="FF9E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0" y="5669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32688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100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end to end.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raw footage to a live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2328" y="29260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9488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2328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83768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3768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01088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E45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21128" y="29260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8288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21128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712568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12568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29888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E45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49928" y="29260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7088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49928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41368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YOLOv12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41368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58688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E45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78728" y="29260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78728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📐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70168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70168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87488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E45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07528" y="29260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688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07528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198968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98968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16288" y="3749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9E45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936328" y="2926080"/>
            <a:ext cx="1463040" cy="2011680"/>
          </a:xfrm>
          <a:prstGeom prst="roundRect">
            <a:avLst>
              <a:gd name="adj" fmla="val 75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73488" y="3063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936328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⚛️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10027768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UI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27768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548640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623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600200" y="55778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runs in the background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600200" y="592531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return instantly — the pipeline processes off-request while the UI polls for progress.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548640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623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223760" y="55778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safe with a local fallback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223760" y="592531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MongoDB goes down, the system silently switches to local JSON storage and keeps working.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TECH 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production-grade tools.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 to build, speed to run, and speed to demo.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65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0888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AI  /  Vision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0888" y="3200400"/>
            <a:ext cx="301752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2328" y="3566160"/>
            <a:ext cx="109728" cy="109728"/>
          </a:xfrm>
          <a:prstGeom prst="ellipse">
            <a:avLst/>
          </a:prstGeom>
          <a:solidFill>
            <a:srgbClr val="4FB3FF"/>
          </a:solidFill>
          <a:ln/>
        </p:spPr>
      </p:sp>
      <p:sp>
        <p:nvSpPr>
          <p:cNvPr id="9" name="Text 7"/>
          <p:cNvSpPr/>
          <p:nvPr/>
        </p:nvSpPr>
        <p:spPr>
          <a:xfrm>
            <a:off x="1066648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YOLOv12-nano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2328" y="4069080"/>
            <a:ext cx="109728" cy="109728"/>
          </a:xfrm>
          <a:prstGeom prst="ellipse">
            <a:avLst/>
          </a:prstGeom>
          <a:solidFill>
            <a:srgbClr val="4FB3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6648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2328" y="4572000"/>
            <a:ext cx="109728" cy="109728"/>
          </a:xfrm>
          <a:prstGeom prst="ellipse">
            <a:avLst/>
          </a:prstGeom>
          <a:solidFill>
            <a:srgbClr val="4FB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648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2328" y="5074920"/>
            <a:ext cx="109728" cy="109728"/>
          </a:xfrm>
          <a:prstGeom prst="ellipse">
            <a:avLst/>
          </a:prstGeom>
          <a:solidFill>
            <a:srgbClr val="4FB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648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2328" y="5577840"/>
            <a:ext cx="109728" cy="109728"/>
          </a:xfrm>
          <a:prstGeom prst="ellipse">
            <a:avLst/>
          </a:prstGeom>
          <a:solidFill>
            <a:srgbClr val="4FB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648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127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7088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87088" y="3200400"/>
            <a:ext cx="301752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8528" y="3566160"/>
            <a:ext cx="109728" cy="109728"/>
          </a:xfrm>
          <a:prstGeom prst="ellipse">
            <a:avLst/>
          </a:prstGeom>
          <a:solidFill>
            <a:srgbClr val="FF9E45"/>
          </a:solidFill>
          <a:ln/>
        </p:spPr>
      </p:sp>
      <p:sp>
        <p:nvSpPr>
          <p:cNvPr id="22" name="Text 20"/>
          <p:cNvSpPr/>
          <p:nvPr/>
        </p:nvSpPr>
        <p:spPr>
          <a:xfrm>
            <a:off x="4952848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78528" y="4069080"/>
            <a:ext cx="109728" cy="109728"/>
          </a:xfrm>
          <a:prstGeom prst="ellipse">
            <a:avLst/>
          </a:prstGeom>
          <a:solidFill>
            <a:srgbClr val="FF9E45"/>
          </a:solidFill>
          <a:ln/>
        </p:spPr>
      </p:sp>
      <p:sp>
        <p:nvSpPr>
          <p:cNvPr id="24" name="Text 22"/>
          <p:cNvSpPr/>
          <p:nvPr/>
        </p:nvSpPr>
        <p:spPr>
          <a:xfrm>
            <a:off x="4952848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78528" y="4572000"/>
            <a:ext cx="109728" cy="109728"/>
          </a:xfrm>
          <a:prstGeom prst="ellipse">
            <a:avLst/>
          </a:prstGeom>
          <a:solidFill>
            <a:srgbClr val="FF9E45"/>
          </a:solidFill>
          <a:ln/>
        </p:spPr>
      </p:sp>
      <p:sp>
        <p:nvSpPr>
          <p:cNvPr id="26" name="Text 24"/>
          <p:cNvSpPr/>
          <p:nvPr/>
        </p:nvSpPr>
        <p:spPr>
          <a:xfrm>
            <a:off x="4952848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78528" y="5074920"/>
            <a:ext cx="109728" cy="109728"/>
          </a:xfrm>
          <a:prstGeom prst="ellipse">
            <a:avLst/>
          </a:prstGeom>
          <a:solidFill>
            <a:srgbClr val="FF9E45"/>
          </a:solidFill>
          <a:ln/>
        </p:spPr>
      </p:sp>
      <p:sp>
        <p:nvSpPr>
          <p:cNvPr id="28" name="Text 26"/>
          <p:cNvSpPr/>
          <p:nvPr/>
        </p:nvSpPr>
        <p:spPr>
          <a:xfrm>
            <a:off x="4952848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imageio + FFmpeg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78528" y="5577840"/>
            <a:ext cx="109728" cy="109728"/>
          </a:xfrm>
          <a:prstGeom prst="ellipse">
            <a:avLst/>
          </a:prstGeom>
          <a:solidFill>
            <a:srgbClr val="FF9E45"/>
          </a:solidFill>
          <a:ln/>
        </p:spPr>
      </p:sp>
      <p:sp>
        <p:nvSpPr>
          <p:cNvPr id="30" name="Text 28"/>
          <p:cNvSpPr/>
          <p:nvPr/>
        </p:nvSpPr>
        <p:spPr>
          <a:xfrm>
            <a:off x="4952848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989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3288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⚛️  Frontend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73288" y="3200400"/>
            <a:ext cx="301752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64728" y="356616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8839048" y="3429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64728" y="406908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8839048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64728" y="457200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9" name="Text 37"/>
          <p:cNvSpPr/>
          <p:nvPr/>
        </p:nvSpPr>
        <p:spPr>
          <a:xfrm>
            <a:off x="8839048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64728" y="507492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1" name="Text 39"/>
          <p:cNvSpPr/>
          <p:nvPr/>
        </p:nvSpPr>
        <p:spPr>
          <a:xfrm>
            <a:off x="8839048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64728" y="5577840"/>
            <a:ext cx="109728" cy="10972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3" name="Text 41"/>
          <p:cNvSpPr/>
          <p:nvPr/>
        </p:nvSpPr>
        <p:spPr>
          <a:xfrm>
            <a:off x="8839048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SEVERITY 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pothole gets graded.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size, shape, model confidence, and how consistently it appears — combined into one score.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65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2448" y="2743200"/>
            <a:ext cx="914400" cy="9144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0088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0888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30 cm width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8088" y="4663440"/>
            <a:ext cx="210312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608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surface wear — monitor over time, no immediate action needed.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6608" y="5715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"Road Condition Good"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27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38648" y="274320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8708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87088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– 70 cm width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44288" y="4663440"/>
            <a:ext cx="210312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2808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 recommended — vehicle wear-and-tear risk.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2808" y="5715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"Drive Carefully"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98968" y="237744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1E2745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24848" y="2743200"/>
            <a:ext cx="914400" cy="9144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473288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73288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70 cm width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30488" y="4663440"/>
            <a:ext cx="210312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9008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repair priority — real hazard to two-wheelers and suspensions.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19008" y="5715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"DANGER — Large Pothole Ahead!"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 HEADLINE  METRIC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that ranks any road.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detections into decisions — the value maintenance teams can actually act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6583680" cy="3931920"/>
          </a:xfrm>
          <a:prstGeom prst="roundRect">
            <a:avLst>
              <a:gd name="adj" fmla="val 2791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 SCORE  FORMULA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= 100 − ( </a:t>
            </a:r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Severe + </a:t>
            </a:r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Moderate + </a:t>
            </a:r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Minor 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425196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SEVERE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costs 15 points</a:t>
            </a:r>
            <a:pPr indent="0" marL="0">
              <a:buNone/>
            </a:pPr>
            <a:r>
              <a:rPr lang="en-US" sz="1200" i="1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immediate repair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7548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663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MODERATE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costs 6 points</a:t>
            </a:r>
            <a:pPr indent="0" marL="0">
              <a:buNone/>
            </a:pPr>
            <a:r>
              <a:rPr lang="en-US" sz="1200" i="1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scheduled maintenance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257800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1663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MINOR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costs 2 points</a:t>
            </a:r>
            <a:pPr indent="0" marL="0">
              <a:buNone/>
            </a:pPr>
            <a:r>
              <a:rPr lang="en-US" sz="1200" i="1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monitor 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defects weighted super-linearly — one deep pothole outranks many shallow ones for repair priority.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680960" y="23774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SCORES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0" y="3108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road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955280" y="3566160"/>
            <a:ext cx="3383280" cy="228600"/>
          </a:xfrm>
          <a:prstGeom prst="roundRect">
            <a:avLst>
              <a:gd name="adj" fmla="val 20000"/>
            </a:avLst>
          </a:prstGeom>
          <a:solidFill>
            <a:srgbClr val="141B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0" y="3566160"/>
            <a:ext cx="3180283" cy="2286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0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955280" y="4617720"/>
            <a:ext cx="3383280" cy="228600"/>
          </a:xfrm>
          <a:prstGeom prst="roundRect">
            <a:avLst>
              <a:gd name="adj" fmla="val 20000"/>
            </a:avLst>
          </a:prstGeom>
          <a:solidFill>
            <a:srgbClr val="141B33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0" y="4617720"/>
            <a:ext cx="2097634" cy="2286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5212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0" y="5120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7955280" y="5669280"/>
            <a:ext cx="3383280" cy="228600"/>
          </a:xfrm>
          <a:prstGeom prst="roundRect">
            <a:avLst>
              <a:gd name="adj" fmla="val 20000"/>
            </a:avLst>
          </a:prstGeom>
          <a:solidFill>
            <a:srgbClr val="141B33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5669280"/>
            <a:ext cx="608990" cy="2286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scan becomes data.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model performance, spatial distribution, roughness timeline, and severity–confidence patterns.</a:t>
            </a:r>
            <a:endParaRPr lang="en-US" sz="1400" dirty="0"/>
          </a:p>
        </p:txBody>
      </p:sp>
      <p:pic>
        <p:nvPicPr>
          <p:cNvPr id="5" name="Image 0" descr="D:\Projects\IBM Internship\outputs_comprehensive\performance_dashboard_comprehens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777240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237744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25146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281160" y="2468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81160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mAP@50 &amp; mAP@50-95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595360" y="342900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32520" y="35661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28116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map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8116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each frame potholes cluster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595360" y="448056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32520" y="4617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281160" y="4572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Roughness timeline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281160" y="4892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hazard score across the video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595360" y="553212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5669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281160" y="5623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vs class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281160" y="5943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by severity tier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uses this, and how.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deployment path municipalities can adopt without new hardware.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FF9E45">
              <a:alpha val="18000"/>
            </a:srgbClr>
          </a:solidFill>
          <a:ln w="12700">
            <a:solidFill>
              <a:srgbClr val="FF9E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Municipal corporations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7614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survey of every road their vehicles already drive.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rgbClr val="FF9E45">
              <a:alpha val="18000"/>
            </a:srgbClr>
          </a:solidFill>
          <a:ln w="12700">
            <a:solidFill>
              <a:srgbClr val="FF9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364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transit fleets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6758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Dashcams on buses become passive road-condition sensors.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FF9E45">
              <a:alpha val="18000"/>
            </a:srgbClr>
          </a:solidFill>
          <a:ln w="12700">
            <a:solidFill>
              <a:srgbClr val="FF9E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🚧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279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contractors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priority list replaces guesswork and complaints.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FF9E45">
              <a:alpha val="18000"/>
            </a:srgbClr>
          </a:solidFill>
          <a:ln w="12700">
            <a:solidFill>
              <a:srgbClr val="FF9E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5193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drivers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5046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danger alerts on-screen for severe hazards ahead.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3774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1E2745"/>
          </a:solidFill>
          <a:ln w="9525">
            <a:solidFill>
              <a:srgbClr val="FF9E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9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IT  WORKS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30632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hardware.</a:t>
            </a:r>
            <a:endParaRPr lang="en-US" sz="2400" dirty="0"/>
          </a:p>
          <a:p>
            <a:pPr indent="0" marL="0">
              <a:buNone/>
            </a:pPr>
            <a:r>
              <a:rPr lang="en-US" sz="24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dashcam works.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720840" y="4251960"/>
            <a:ext cx="4572000" cy="0"/>
          </a:xfrm>
          <a:prstGeom prst="line">
            <a:avLst/>
          </a:prstGeom>
          <a:noFill/>
          <a:ln w="9525">
            <a:solidFill>
              <a:srgbClr val="3240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434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4434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vehicle covers km/day — no manual survey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4892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892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quantified priority list — not complaints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349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86600" y="5349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— track deterioration over time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5806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86600" y="5806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CSV, JSON, and processed video per scan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0297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A6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FF9E45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4FB3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8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 YOU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547208" y="3611880"/>
            <a:ext cx="1097280" cy="0"/>
          </a:xfrm>
          <a:prstGeom prst="line">
            <a:avLst/>
          </a:prstGeom>
          <a:noFill/>
          <a:ln w="38100">
            <a:solidFill>
              <a:srgbClr val="FF9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840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9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PavemindAI  ·  Detect. Grade. Prioritise.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95448" y="5394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1E2745"/>
          </a:solidFill>
          <a:ln w="9525">
            <a:solidFill>
              <a:srgbClr val="3240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5448" y="5394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Internship  ·  Group 74  ·  UPES Dehradun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Aditya Khatri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PavemindAI — Group Presentation</dc:title>
  <dc:subject>PptxGenJS Presentation</dc:subject>
  <dc:creator>Aditya Khatri</dc:creator>
  <cp:lastModifiedBy>Aditya Khatri</cp:lastModifiedBy>
  <cp:revision>1</cp:revision>
  <dcterms:created xsi:type="dcterms:W3CDTF">2026-08-06T17:51:36Z</dcterms:created>
  <dcterms:modified xsi:type="dcterms:W3CDTF">2026-08-06T17:51:36Z</dcterms:modified>
</cp:coreProperties>
</file>