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Introduce team + project title. 15-20 seconds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pain. Reactive, manual, unquantified. Hand off to the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pillars. Detect → Grade → Prioritise. Next slides expand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automation. Don't get pulled into HOW the AI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stack briefly. If asked 'why FastAPI' → 'async + auto docs.' Don't over-explain.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image. Many potholes in ONE frame — each with cm measurements. Then the 91% accuracy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tiers. Point to the alert banner. Do NOT get into HOW severity is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one number = actionable. Cities can rank 500 roads at once. DO NOT reveal the exact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slide. Zero hardware cost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Invite questions. If asked something technical you don't want to answer publicly, deflect: 'Great question — happy to walk you through it after the session.'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7619695" y="4114800"/>
            <a:ext cx="5486400" cy="5486400"/>
          </a:xfrm>
          <a:prstGeom prst="ellipse">
            <a:avLst/>
          </a:prstGeom>
          <a:solidFill>
            <a:srgbClr val="F97316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· GROUP PRESENTATION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SkillsBuild Internship  |  Academic Year 2025–26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2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PaveMind AI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777240" y="3200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spc="-50" kern="0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Road Pothole Detection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Severity Analysis Platform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57200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663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 BY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4937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2578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Khatri   ·   Ujjawal Gupta   ·   Arsh Rathi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5989320"/>
            <a:ext cx="105156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6126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 DOMAIN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 &amp; Machine Learning  ·  Computer Vision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Roads fail faster than they're inspected.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Pothole surveying today is reactive, slow, and unquantified — repair decisions rely on complaints and guesswork.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2288" y="22860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1E293B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328" y="260604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975208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2328" y="30632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92328" y="38404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delay between pothole formation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any repair action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12768" y="22860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2808" y="2606040"/>
            <a:ext cx="54864" cy="320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15688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32808" y="30632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4632808" y="38404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road condition is surveyed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 driving with clipboards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3248" y="22860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73288" y="2606040"/>
            <a:ext cx="54864" cy="32004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8656168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73288" y="30632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8473288" y="38404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automated tools give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repair priority list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371600" y="5257800"/>
            <a:ext cx="9448495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54480" y="5257800"/>
            <a:ext cx="908273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"Cities can't fix what they can't measure.</a:t>
            </a:r>
            <a:pPr algn="ctr" indent="0" marL="0">
              <a:buNone/>
            </a:pPr>
            <a:r>
              <a:rPr lang="en-US" sz="1700" i="1" dirty="0">
                <a:solidFill>
                  <a:srgbClr val="94A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PaveMind AI turns any dashcam into a road-condition sensor."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OUR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system. From dashcam to decision.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AI watches road footage and produces an actionable, ranked report of pothole severity — automatically.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0848" y="21945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0888" y="25146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700888" y="3200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0888" y="3611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every pothole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00888" y="4297680"/>
            <a:ext cx="30175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0888" y="4480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model scans image and video frame by frame, identifying potholes with tight bounding boxes.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67048" y="21945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7088" y="25146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4587088" y="3200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7088" y="3611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how bad each is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587088" y="4297680"/>
            <a:ext cx="30175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7088" y="4480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is classified into three tiers — Minor, Moderate, or Severe — using a combination of visual signals.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3248" y="21945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73288" y="25146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8473288" y="3200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73288" y="3611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the roads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73288" y="4297680"/>
            <a:ext cx="30175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73288" y="4480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roll up into a single Road Health Score, shown on an interactive dashboard with GPS maps and analytics.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IT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end-to-end pipeline.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raw upload to a live dashboard — everything happens automatically.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23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3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3" name="Text 11"/>
          <p:cNvSpPr/>
          <p:nvPr/>
        </p:nvSpPr>
        <p:spPr>
          <a:xfrm>
            <a:off x="7923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23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666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37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file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01088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7316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211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11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0" name="Text 18"/>
          <p:cNvSpPr/>
          <p:nvPr/>
        </p:nvSpPr>
        <p:spPr>
          <a:xfrm>
            <a:off x="26211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211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954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125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job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29888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7316"/>
                </a:solidFill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499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99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7" name="Text 25"/>
          <p:cNvSpPr/>
          <p:nvPr/>
        </p:nvSpPr>
        <p:spPr>
          <a:xfrm>
            <a:off x="44499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499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Model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7242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413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potholes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58688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7316"/>
                </a:solidFill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2787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787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4" name="Text 32"/>
          <p:cNvSpPr/>
          <p:nvPr/>
        </p:nvSpPr>
        <p:spPr>
          <a:xfrm>
            <a:off x="62787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87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Grading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530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87488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7316"/>
                </a:solidFill>
              </a:rPr>
              <a:t>▶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1075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75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41" name="Text 39"/>
          <p:cNvSpPr/>
          <p:nvPr/>
        </p:nvSpPr>
        <p:spPr>
          <a:xfrm>
            <a:off x="81075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075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3818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989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scan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results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616288" y="3520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7316"/>
                </a:solidFill>
              </a:rPr>
              <a:t>▶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936328" y="2651760"/>
            <a:ext cx="146304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36328" y="2651760"/>
            <a:ext cx="1463040" cy="36576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48" name="Text 46"/>
          <p:cNvSpPr/>
          <p:nvPr/>
        </p:nvSpPr>
        <p:spPr>
          <a:xfrm>
            <a:off x="9936328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936328" y="3337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210648" y="3794760"/>
            <a:ext cx="9144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27768" y="3886200"/>
            <a:ext cx="1280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1520" y="534924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05840" y="5623560"/>
            <a:ext cx="73152" cy="411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4" name="Text 52"/>
          <p:cNvSpPr/>
          <p:nvPr/>
        </p:nvSpPr>
        <p:spPr>
          <a:xfrm>
            <a:off x="1188720" y="5532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in the background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188720" y="5852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video jobs don't block the interface — a progress bar updates live.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355080" y="534924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629400" y="5623560"/>
            <a:ext cx="73152" cy="411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8" name="Text 56"/>
          <p:cNvSpPr/>
          <p:nvPr/>
        </p:nvSpPr>
        <p:spPr>
          <a:xfrm>
            <a:off x="6812280" y="5532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offline too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6812280" y="5852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cloud database is unreachable, the system quietly falls back to local storage.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TECH STACK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production-grade tools.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stack — deep learning for vision, async Python for the API, React for the interface.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2288" y="21945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2328" y="2514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VISION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2328" y="2971800"/>
            <a:ext cx="2926080" cy="0"/>
          </a:xfrm>
          <a:prstGeom prst="line">
            <a:avLst/>
          </a:prstGeom>
          <a:noFill/>
          <a:ln w="635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048" y="3401568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648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YOLOv12 (Ultralytics)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8048" y="3950208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648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8048" y="4498848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648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8048" y="5047488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648" y="4892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8048" y="5596128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648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12768" y="21945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32808" y="2514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32808" y="2971800"/>
            <a:ext cx="2926080" cy="0"/>
          </a:xfrm>
          <a:prstGeom prst="line">
            <a:avLst/>
          </a:prstGeom>
          <a:noFill/>
          <a:ln w="6350">
            <a:solidFill>
              <a:srgbClr val="F973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78528" y="3401568"/>
            <a:ext cx="109728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4907128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78528" y="3950208"/>
            <a:ext cx="109728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7128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678528" y="4498848"/>
            <a:ext cx="109728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2" name="Text 30"/>
          <p:cNvSpPr/>
          <p:nvPr/>
        </p:nvSpPr>
        <p:spPr>
          <a:xfrm>
            <a:off x="4907128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PyMongo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78528" y="5047488"/>
            <a:ext cx="109728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4907128" y="4892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imageio + FFmpeg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678528" y="5596128"/>
            <a:ext cx="109728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6" name="Text 34"/>
          <p:cNvSpPr/>
          <p:nvPr/>
        </p:nvSpPr>
        <p:spPr>
          <a:xfrm>
            <a:off x="4907128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153248" y="21945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73288" y="2514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73288" y="2971800"/>
            <a:ext cx="2926080" cy="0"/>
          </a:xfrm>
          <a:prstGeom prst="line">
            <a:avLst/>
          </a:prstGeom>
          <a:noFill/>
          <a:ln w="6350">
            <a:solidFill>
              <a:srgbClr val="A78BF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19008" y="3401568"/>
            <a:ext cx="109728" cy="1097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1" name="Text 39"/>
          <p:cNvSpPr/>
          <p:nvPr/>
        </p:nvSpPr>
        <p:spPr>
          <a:xfrm>
            <a:off x="8747608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519008" y="3950208"/>
            <a:ext cx="109728" cy="1097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3" name="Text 41"/>
          <p:cNvSpPr/>
          <p:nvPr/>
        </p:nvSpPr>
        <p:spPr>
          <a:xfrm>
            <a:off x="8747608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519008" y="4498848"/>
            <a:ext cx="109728" cy="1097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5" name="Text 43"/>
          <p:cNvSpPr/>
          <p:nvPr/>
        </p:nvSpPr>
        <p:spPr>
          <a:xfrm>
            <a:off x="8747608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519008" y="5047488"/>
            <a:ext cx="109728" cy="1097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7" name="Text 45"/>
          <p:cNvSpPr/>
          <p:nvPr/>
        </p:nvSpPr>
        <p:spPr>
          <a:xfrm>
            <a:off x="8747608" y="4892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519008" y="5596128"/>
            <a:ext cx="109728" cy="1097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9" name="Text 47"/>
          <p:cNvSpPr/>
          <p:nvPr/>
        </p:nvSpPr>
        <p:spPr>
          <a:xfrm>
            <a:off x="8747608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IN ACTION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frame. Every pothole found.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Indian road scene — potholes detected, measured, and classified simultaneously.</a:t>
            </a:r>
            <a:endParaRPr lang="en-US" sz="1300" dirty="0"/>
          </a:p>
        </p:txBody>
      </p:sp>
      <p:pic>
        <p:nvPicPr>
          <p:cNvPr id="11" name="Image 0" descr="D:\Projects\IBM Internship\backend\static\outputs\severity_img_1783839683_input_im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103120"/>
            <a:ext cx="7589520" cy="4206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" y="635508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detection · widths estimated in centimetres · live driver alert banner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229600" y="21031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2240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ACCURACY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03920" y="260604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91.23</a:t>
            </a:r>
            <a:pPr indent="0" marL="0">
              <a:buNone/>
            </a:pPr>
            <a:r>
              <a:rPr lang="en-US" sz="3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5400" dirty="0"/>
          </a:p>
        </p:txBody>
      </p:sp>
      <p:sp>
        <p:nvSpPr>
          <p:cNvPr id="16" name="Text 13"/>
          <p:cNvSpPr/>
          <p:nvPr/>
        </p:nvSpPr>
        <p:spPr>
          <a:xfrm>
            <a:off x="8503920" y="356616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detection accuracy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229600" y="42519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03920" y="43891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 IN  THIS  FRAME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503920" y="4864608"/>
            <a:ext cx="137160" cy="137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7"/>
          <p:cNvSpPr/>
          <p:nvPr/>
        </p:nvSpPr>
        <p:spPr>
          <a:xfrm>
            <a:off x="8732520" y="4754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561320" y="4754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503920" y="5367528"/>
            <a:ext cx="137160" cy="137160"/>
          </a:xfrm>
          <a:prstGeom prst="rect">
            <a:avLst/>
          </a:prstGeom>
          <a:solidFill>
            <a:srgbClr val="EAB308"/>
          </a:solidFill>
          <a:ln/>
        </p:spPr>
      </p:sp>
      <p:sp>
        <p:nvSpPr>
          <p:cNvPr id="23" name="Text 20"/>
          <p:cNvSpPr/>
          <p:nvPr/>
        </p:nvSpPr>
        <p:spPr>
          <a:xfrm>
            <a:off x="8732520" y="5257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561320" y="5257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AB3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503920" y="5870448"/>
            <a:ext cx="137160" cy="1371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6" name="Text 23"/>
          <p:cNvSpPr/>
          <p:nvPr/>
        </p:nvSpPr>
        <p:spPr>
          <a:xfrm>
            <a:off x="8732520" y="5760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61320" y="5760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SEVERITY CLASSIFICATION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pothole gets graded.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tiers, three responses — from monitor-only to immediate hazard alert.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0848" y="214884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06728" y="2560320"/>
            <a:ext cx="1005840" cy="10058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55168" y="37033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112368" y="4343400"/>
            <a:ext cx="2194560" cy="0"/>
          </a:xfrm>
          <a:prstGeom prst="line">
            <a:avLst/>
          </a:prstGeom>
          <a:noFill/>
          <a:ln w="635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0888" y="45262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surface wear.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over time.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00888" y="553212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22C55E">
              <a:alpha val="18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888" y="5532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"Road Condition Good"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67048" y="214884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2700">
            <a:solidFill>
              <a:srgbClr val="EAB30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92928" y="2560320"/>
            <a:ext cx="1005840" cy="1005840"/>
          </a:xfrm>
          <a:prstGeom prst="ellipse">
            <a:avLst/>
          </a:prstGeom>
          <a:solidFill>
            <a:srgbClr val="EAB308"/>
          </a:solidFill>
          <a:ln/>
        </p:spPr>
      </p:sp>
      <p:sp>
        <p:nvSpPr>
          <p:cNvPr id="20" name="Text 18"/>
          <p:cNvSpPr/>
          <p:nvPr/>
        </p:nvSpPr>
        <p:spPr>
          <a:xfrm>
            <a:off x="4541368" y="37033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AB3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4998568" y="4343400"/>
            <a:ext cx="2194560" cy="0"/>
          </a:xfrm>
          <a:prstGeom prst="line">
            <a:avLst/>
          </a:prstGeom>
          <a:noFill/>
          <a:ln w="6350">
            <a:solidFill>
              <a:srgbClr val="EAB3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7088" y="45262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Noticeable defect.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maintenance.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87088" y="553212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EAB308">
              <a:alpha val="18000"/>
            </a:srgbClr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87088" y="5532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"Drive Carefully"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53248" y="214884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79128" y="256032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8427568" y="37033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SEVERE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8884768" y="4343400"/>
            <a:ext cx="2194560" cy="0"/>
          </a:xfrm>
          <a:prstGeom prst="line">
            <a:avLst/>
          </a:prstGeom>
          <a:noFill/>
          <a:ln w="6350">
            <a:solidFill>
              <a:srgbClr val="EF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73288" y="45262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repair priority.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473288" y="553212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EF4444">
              <a:alpha val="18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73288" y="5532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"DANGER — Large Pothole Ahead"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 HEALTH SCORE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number that ranks any road.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 produces a Road Health Score between 0 and 100 — the metric maintenance teams can act 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760720" cy="4251960"/>
          </a:xfrm>
          <a:prstGeom prst="roundRect">
            <a:avLst>
              <a:gd name="adj" fmla="val 1720"/>
            </a:avLst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4231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 HEADLINE  METRIC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detections to decisions.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7240" y="3383280"/>
            <a:ext cx="512064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56616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Aggregates every detection in a scan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9319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reflects the total damage across the entire stretch of road.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663440"/>
            <a:ext cx="182880" cy="1828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5262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Severe defects weigh more than minor ones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 pothole shifts the score more than several shallow patches — matching real repair priority.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5623560"/>
            <a:ext cx="182880" cy="1828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4864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Makes any two roads instantly comparable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585216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lets a city rank hundreds of roads on one dashboard.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14884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24231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 SCORES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2743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Road Health Score looks like.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0840" y="3200400"/>
            <a:ext cx="47091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Well-maintained road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3703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469880" y="338328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112471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20840" y="4069080"/>
            <a:ext cx="4709160" cy="1645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0840" y="4069080"/>
            <a:ext cx="4426610" cy="16459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4" name="Text 32"/>
          <p:cNvSpPr/>
          <p:nvPr/>
        </p:nvSpPr>
        <p:spPr>
          <a:xfrm>
            <a:off x="6720840" y="4389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Wear-and-tear road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46634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469880" y="434340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EAB3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11247120" y="4434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20840" y="5029200"/>
            <a:ext cx="4709160" cy="1645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9" name="Shape 37"/>
          <p:cNvSpPr/>
          <p:nvPr/>
        </p:nvSpPr>
        <p:spPr>
          <a:xfrm>
            <a:off x="6720840" y="5029200"/>
            <a:ext cx="2919679" cy="164592"/>
          </a:xfrm>
          <a:prstGeom prst="rect">
            <a:avLst/>
          </a:prstGeom>
          <a:solidFill>
            <a:srgbClr val="EAB308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5349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repair needed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20840" y="5623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469880" y="53035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1247120" y="5394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720840" y="5989320"/>
            <a:ext cx="4709160" cy="1645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20840" y="5989320"/>
            <a:ext cx="847649" cy="164592"/>
          </a:xfrm>
          <a:prstGeom prst="rect">
            <a:avLst/>
          </a:prstGeom>
          <a:solidFill>
            <a:srgbClr val="EF4444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91840" y="256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002975" y="2560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Road Pothole Detection &amp; Severity Analysis Platform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76895" y="65105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· AIML · UPES Dehradun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868680"/>
            <a:ext cx="11277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this — and how.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path municipalities can adopt today, without buying any new hardware.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2423160"/>
            <a:ext cx="73152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Municipal corporations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6517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survey of every road their vehicles already drive.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383280"/>
            <a:ext cx="73152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291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611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Dashcams on buses become passive road-condition sensors.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343400"/>
            <a:ext cx="73152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251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Maintenance contractors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5720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Data-backed priority list replaces guesswork and complaints.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07492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303520"/>
            <a:ext cx="73152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212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drivers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5532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alerts for severe hazards ahead in real time.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2194560"/>
            <a:ext cx="5303520" cy="4343400"/>
          </a:xfrm>
          <a:prstGeom prst="roundRect">
            <a:avLst>
              <a:gd name="adj" fmla="val 1684"/>
            </a:avLst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4688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IT  WORKS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66560" y="2880360"/>
            <a:ext cx="4709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new hardware.</a:t>
            </a:r>
            <a:endParaRPr lang="en-US" sz="2800" dirty="0"/>
          </a:p>
          <a:p>
            <a:pPr indent="0" marL="0">
              <a:buNone/>
            </a:pPr>
            <a:r>
              <a:rPr lang="en-US" sz="2800" b="1" spc="-1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dashcam works.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6766560" y="4251960"/>
            <a:ext cx="47091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599432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2" name="Text 30"/>
          <p:cNvSpPr/>
          <p:nvPr/>
        </p:nvSpPr>
        <p:spPr>
          <a:xfrm>
            <a:off x="7132320" y="44805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vehicle covers many kilometres per day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12280" y="5102352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0" y="498348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priority list — not citizen complaints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12280" y="5605272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0" y="54864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trend data per road over time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12280" y="6108192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0" y="59893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exports: CSV, JSON, processed video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97316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534095" y="3200400"/>
            <a:ext cx="7315200" cy="7315200"/>
          </a:xfrm>
          <a:prstGeom prst="ellipse">
            <a:avLst/>
          </a:prstGeom>
          <a:solidFill>
            <a:srgbClr val="38BDF8">
              <a:alpha val="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640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PAVEMIND · AI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300" kern="0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7" name="Shape 5"/>
          <p:cNvSpPr/>
          <p:nvPr/>
        </p:nvSpPr>
        <p:spPr>
          <a:xfrm>
            <a:off x="777240" y="3657600"/>
            <a:ext cx="27432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77240" y="5394960"/>
            <a:ext cx="1051560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 BY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Aditya Khatri  ·  Ujjawal Gupta  ·  Arsh Rathi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74  ·  AIML  ·  UPES Dehradun  ·  IBM SkillsBuild Internship  2025–26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UPES Dehradun · IBM SkillsBuild Internship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PaveMind AI — Group 74 Presentation</dc:title>
  <dc:subject>PptxGenJS Presentation</dc:subject>
  <dc:creator>Aditya Khatri, Ujjawal Gupta, Arsh Rathi</dc:creator>
  <cp:lastModifiedBy>Aditya Khatri, Ujjawal Gupta, Arsh Rathi</cp:lastModifiedBy>
  <cp:revision>1</cp:revision>
  <dcterms:created xsi:type="dcterms:W3CDTF">2026-08-07T03:35:33Z</dcterms:created>
  <dcterms:modified xsi:type="dcterms:W3CDTF">2026-08-07T03:35:33Z</dcterms:modified>
</cp:coreProperties>
</file>