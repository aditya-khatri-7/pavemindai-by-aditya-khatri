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681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yourself, the team, and the project title. Keep it under 20 seconds — hand off 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 to both columns: on the left, what's broken today. On the right, our five contributions — these map directly to the abstract of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slide. Speak briefly — the point is the last card: existing YOLO work stops at boxes, we go three layers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merged 765 total. Then to the 70/20/10 split — mention random shuffle before split. 25 epochs on 535 training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small model (2.6M params) but strong accuracy. Mention transfer learning from COCO for fast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seven gates. The insight: geometry does what confidence alone cannot. Emphasize the last row — full elimination.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left-to-right. Say pinhole geometry once, then move to the 5-factor score. Point at the weight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Emphasize: one number lets a city rank 500 roads in one SQL query. Actionable, not descriptive.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columns = three tiers. Emphasize FastAPI background tasks + MongoDB fallback + React 19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mAP@0.5 improvement (+56.6%) with no throughput penalty. Say the 25e model is the deployed production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real image on left. Emphasize: 17 potholes in one frame, cm dimensions on each. Then the stats: 5.5 FPS on CPU is real-world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outcomes on the left. If asked about scope, point at the five items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Invite questions. If asked about anything, refer back to the specific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7619695" y="4114800"/>
            <a:ext cx="5486400" cy="54864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· GROUP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Internship  |  Academic Year 2025–26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-2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PaveMind 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kern="0" spc="-5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Road Pothole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Severity Analysis Platform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45720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Khatri   ·   Ujjawal Gupta   ·   Arsh Rathi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989320"/>
            <a:ext cx="10515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126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DOMAIN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Machine Learning  ·  Computer Vision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what we contribute.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pothole repair — driven by citizen complaints or periodic surveys — leaves defects unaddressed for weeks. PaveMind AI automates the entire loop.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PROBLEM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inspection today is manual, slow, and unquantified.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3611880"/>
            <a:ext cx="46634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67912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94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cycles.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wait for complaints or scheduled surveys — weeks of delay per defect.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462272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3891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prioritisation.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teams have no ranked list of which roads need repair first.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056632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9834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measurement.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detectors report boxes in pixels, not actionable engineering values.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650992"/>
            <a:ext cx="731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5778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system.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work stops at the model — not deployed, not integrated.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10312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 CONTRIBUTIONS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research contributions.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55080" y="3611880"/>
            <a:ext cx="5120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81304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813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794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YOLOv12 Nano (2.6 M params) achieving mAP@0.5 of 91.23% on a merged 765-image dataset.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431596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315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Camera-geometry-based physical size estimator — no 3D sensor hardware required.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481888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818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4800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severity scoring — size, depth, confidence, aspect, temporal persistence.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532180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321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5303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Seven-stage false-positive mitigation pipeline against sky, clouds, tyre tracks, and noise.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582472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5824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5806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deployed system — FastAPI + MongoDB + React 19 with GPS heatmap.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RELATED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vibration sensors to real-time object detection.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pothole detection has evolved — and the gap in existing published systems that PaveMind AI closes.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3708" y="219456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748" y="251460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64748B">
              <a:alpha val="18000"/>
            </a:srgbClr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748" y="2514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374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Vibration Sensors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3748" y="3566160"/>
            <a:ext cx="21031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48" y="370332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Accelerometers detected road-induced jolts. Effective in controlled conditions but highly sensitive to vehicle suspension and speed — inconsistent across vehicle types.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84068" y="219456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04108" y="251460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4108" y="2514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0410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Classifiers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04108" y="3566160"/>
            <a:ext cx="21031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4108" y="370332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and VGG-based sliding-window detectors. Higher accuracy than sensors but inference too slow for real-time dashcam use.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4428" y="219456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84468" y="251460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38BDF8">
              <a:alpha val="18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4468" y="2514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8446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Family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84468" y="3566160"/>
            <a:ext cx="21031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4468" y="370332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 et al. unified detection and classification into a single forward pass — real-time performance became viable. YOLOv5 → v12 improved accuracy and efficiency.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44788" y="219456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64828" y="251460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F97316">
              <a:alpha val="18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64828" y="2514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6482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PaveMind AI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364828" y="3566160"/>
            <a:ext cx="21031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64828" y="370332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YOLOv12n + geometric size estimation + severity scoring + end-to-end deployment. Fills the gap: existing work stops at bounding boxes.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989320"/>
            <a:ext cx="11277295" cy="502920"/>
          </a:xfrm>
          <a:prstGeom prst="roundRect">
            <a:avLst>
              <a:gd name="adj" fmla="val 10909"/>
            </a:avLst>
          </a:prstGeom>
          <a:solidFill>
            <a:srgbClr val="172033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98932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IN  LITERATURE: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systems typically address only bounding-box localisation. They do not provide real-world physical dimensions, multi-tier severity classification, or end-to-end deployment.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DATASET PREPARATION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datasets merged. 765 images, 2,024 pothole instances.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and remapped for diverse road conditions across India, USA, and Japan.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SOURCES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908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154680"/>
            <a:ext cx="53035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Pothole Dataset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9080" y="3291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~1,350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lighting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CRDDC / RDD2022 (D40)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3794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~674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794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TOTAL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4800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69080" y="4800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2,024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4800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5303520" cy="0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210312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 SPLIT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95160" y="2926080"/>
            <a:ext cx="3069515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64675" y="2926080"/>
            <a:ext cx="877824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42499" y="2926080"/>
            <a:ext cx="441781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6" name="Text 34"/>
          <p:cNvSpPr/>
          <p:nvPr/>
        </p:nvSpPr>
        <p:spPr>
          <a:xfrm>
            <a:off x="69951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3749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726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6132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img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95160" y="4041648"/>
            <a:ext cx="43891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66760" y="4160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72600" y="4160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1,386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6132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9516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66760" y="4617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72600" y="4617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56132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9516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66760" y="5074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372600" y="5074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61320" y="5074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95160" y="5806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640×640 · mosaic patching · horizontal flip · HSV jitter · random scaling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YOLOv12 Nano. 2.6 M parameters. 6.3 GFLOPs.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its accuracy-to-parameter ratio and CPU-friendly deployment.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42316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3591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Variant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YOLOv12n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1031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242316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3591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2788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2.56 M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611880" y="3566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2,556,923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57200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5079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9377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31520" y="5715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GFLOPs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42519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457200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45079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49377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 × 640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611880" y="5715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INNOVATIONS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29400" y="28803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28529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Attention (A²) Module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32004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spatial attention that partitions feature maps into horizontal and vertical regions — efficient long-range dependency modelling without quadratic self-attention cost.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29400" y="39319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39044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Reversed ELAN (R-ELAN)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32320" y="42519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residual pathway for feature reuse — improves gradient flow and training stability during fine-tuning.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29400" y="49834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49560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Edge-Optimised Design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32320" y="53035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variant targets consumer-grade CPU and edge deployment while maintaining competitive accuracy across benchmarks.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263640"/>
            <a:ext cx="11277295" cy="32004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263640"/>
            <a:ext cx="22554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weights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yolov12n.pt (COCO)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12659" y="6263640"/>
            <a:ext cx="22554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(patience 5)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68118" y="6263640"/>
            <a:ext cx="22554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(CPU-safe)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23577" y="6263640"/>
            <a:ext cx="22554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→ AdamW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479036" y="6263640"/>
            <a:ext cx="22554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ONNX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METHODOLOGY · FALSE-POSITIVE MITIGATION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seven-stage validation pipeline.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YOLO output on road footage produces predictable false positives. Six geometric gates + one confidence gate reject them before any downstream analysis.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CRITERION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11277295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3288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32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4871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24871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&lt; 0.45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487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Shadows, image noise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26880" y="26060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F97316">
              <a:alpha val="18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26060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3580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8152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81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0358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0358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edge y &lt; 40% of frame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30358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Clouds, sky regions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6880" y="315468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38BDF8">
              <a:alpha val="18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31546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8444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3016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30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3584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51760" y="35844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edge y &lt; 30% of frame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35844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hills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326880" y="370332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38BDF8">
              <a:alpha val="18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0" y="3703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13308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17880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178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41330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 Ratio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651760" y="41330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&lt; 0.80 or &gt; 5.00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0" y="41330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tracks, narrow cracks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26880" y="425196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0" y="425196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6817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72744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27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14400" y="468172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651760" y="46817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&lt; 150 px²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0" y="4681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noise, gravel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26880" y="480060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6880" y="48006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523036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527608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276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400" y="52303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2651760" y="52303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 area &gt; 25% of frame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943600" y="5230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Windshield, bonnet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326880" y="53492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26880" y="53492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577900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582472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5824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14400" y="57790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2651760" y="57790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passes all above → analyse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943600" y="57790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proceeds to severity —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326880" y="589788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26880" y="58978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" y="6263640"/>
            <a:ext cx="11277295" cy="32004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" y="626364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EFFICACY: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identified false-positive categories were fully eliminated by the gate pipeline in evaluation.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METHODOLOGY · MEASUREMENT &amp; SCORING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 centimetres. From centimetres to severity.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Camera-geometry projection recovers real-world dimensions with no 3D sensor. A weighted score then classifies each detection.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 DIMENSION  ESTIMATION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 projection, no depth sensor.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108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calibrated camera parameters — mounting height, focal length, tilt angle — the system computes distance to each detection and derives physical width and road-plane depth in centimetres.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50292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CALIBRATION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4572000"/>
            <a:ext cx="54864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height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434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51960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dashcam mount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074920"/>
            <a:ext cx="54864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937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5196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640×640 input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5577840"/>
            <a:ext cx="54864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440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tilt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5440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51960" y="5440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downwards from horizon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6080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configurable at runtime — no fixed hardware assumption.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21031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 SEVERITY  SCORE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9400" y="2697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signals → one score → three classes.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29400" y="3200400"/>
            <a:ext cx="4846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Size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0" y="3447288"/>
            <a:ext cx="17373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0" y="3447288"/>
            <a:ext cx="1737360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10469880" y="3337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018520" y="3337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width (primary)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9400" y="3721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Proxy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86800" y="3831336"/>
            <a:ext cx="17373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41" name="Shape 39"/>
          <p:cNvSpPr/>
          <p:nvPr/>
        </p:nvSpPr>
        <p:spPr>
          <a:xfrm>
            <a:off x="8686800" y="3831336"/>
            <a:ext cx="772160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Text 40"/>
          <p:cNvSpPr/>
          <p:nvPr/>
        </p:nvSpPr>
        <p:spPr>
          <a:xfrm>
            <a:off x="10469880" y="3721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018520" y="37216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road-plane depth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4105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Confidence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686800" y="4215384"/>
            <a:ext cx="17373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46" name="Shape 44"/>
          <p:cNvSpPr/>
          <p:nvPr/>
        </p:nvSpPr>
        <p:spPr>
          <a:xfrm>
            <a:off x="8686800" y="4215384"/>
            <a:ext cx="579120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10469880" y="410565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018520" y="410565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output score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29400" y="4489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86800" y="4599432"/>
            <a:ext cx="17373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51" name="Shape 49"/>
          <p:cNvSpPr/>
          <p:nvPr/>
        </p:nvSpPr>
        <p:spPr>
          <a:xfrm>
            <a:off x="8686800" y="4599432"/>
            <a:ext cx="386080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10469880" y="448970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018520" y="448970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29400" y="4873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Persistence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686800" y="4983480"/>
            <a:ext cx="17373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56" name="Shape 54"/>
          <p:cNvSpPr/>
          <p:nvPr/>
        </p:nvSpPr>
        <p:spPr>
          <a:xfrm>
            <a:off x="8686800" y="4983480"/>
            <a:ext cx="386080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7" name="Text 55"/>
          <p:cNvSpPr/>
          <p:nvPr/>
        </p:nvSpPr>
        <p:spPr>
          <a:xfrm>
            <a:off x="10469880" y="4873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018520" y="487375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frames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9400" y="5349240"/>
            <a:ext cx="4846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15100" y="55778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5100" y="56509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515100" y="59618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0.45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252460" y="55778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52460" y="56509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252460" y="59618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0.45–0.70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989820" y="55778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989820" y="56509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989820" y="59618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0.70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 HEALTH INDEX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number, 0 to 100. The headline metric.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every detection in a scan into a single interpretable score for maintenance prioritisation dashboards.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RHI  =  max ( 0 ,  100  −  </a:t>
            </a: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r>
              <a:rPr lang="en-US" sz="26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N</a:t>
            </a:r>
            <a:r>
              <a:rPr lang="en-US" sz="1600" baseline="-400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</a:t>
            </a:r>
            <a:r>
              <a:rPr lang="en-US" sz="26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</a:t>
            </a:r>
            <a:r>
              <a:rPr lang="en-US" sz="26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r>
              <a:rPr lang="en-US" sz="26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N</a:t>
            </a:r>
            <a:r>
              <a:rPr lang="en-US" sz="1600" baseline="-400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r>
              <a:rPr lang="en-US" sz="26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</a:t>
            </a: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6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N</a:t>
            </a:r>
            <a:r>
              <a:rPr lang="en-US" sz="1600" baseline="-400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r>
              <a:rPr lang="en-US" sz="26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3749040" cy="2606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THESE  WEIGHTS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4165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pts for SEVERE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hazard — vehicle damage, liability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B308"/>
                </a:solidFill>
              </a:rPr>
              <a:t>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109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pts for MODERATE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 window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</a:rPr>
              <a:t>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6052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pts for MINOR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5897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progression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794760"/>
            <a:ext cx="3749040" cy="2606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SCORES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road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709160" y="4754880"/>
            <a:ext cx="31089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4754880"/>
            <a:ext cx="2922422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5029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road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983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709160" y="5349240"/>
            <a:ext cx="31089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4" name="Shape 32"/>
          <p:cNvSpPr/>
          <p:nvPr/>
        </p:nvSpPr>
        <p:spPr>
          <a:xfrm>
            <a:off x="4709160" y="5349240"/>
            <a:ext cx="1927555" cy="1371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5623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5577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709160" y="5943600"/>
            <a:ext cx="3108960" cy="13716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9160" y="5943600"/>
            <a:ext cx="559613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8321040" y="37947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4108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41080" y="4480560"/>
            <a:ext cx="18288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8915400" y="4434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 – 100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95560" y="4434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41080" y="4919472"/>
            <a:ext cx="182880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45" name="Text 43"/>
          <p:cNvSpPr/>
          <p:nvPr/>
        </p:nvSpPr>
        <p:spPr>
          <a:xfrm>
            <a:off x="8915400" y="48737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– 84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195560" y="4873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41080" y="5358384"/>
            <a:ext cx="1828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8" name="Text 46"/>
          <p:cNvSpPr/>
          <p:nvPr/>
        </p:nvSpPr>
        <p:spPr>
          <a:xfrm>
            <a:off x="8915400" y="53126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– 59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195560" y="5312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41080" y="5797296"/>
            <a:ext cx="1828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8915400" y="57515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29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195560" y="57515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END-TO-END 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layers. One deployable system.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engine · REST API backend · React 19 web dashboard.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0828" y="210312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868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40868" y="3063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0868" y="3383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inference &amp; analysis 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0868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Ultralytics · OpenCV · NumPy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0868" y="4160520"/>
            <a:ext cx="31546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0868" y="4425696"/>
            <a:ext cx="54864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78028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SeverityEngine — filter, estimate, score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0868" y="4882896"/>
            <a:ext cx="54864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78028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AlertSystem — dynamic banner generation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0868" y="5340096"/>
            <a:ext cx="54864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78028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AnalyticsManager — JSON, CSV, TXT export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0868" y="5797296"/>
            <a:ext cx="54864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78028" y="5669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 — OpenCV overlay rendering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98468" y="210312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8508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4518508" y="3063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18508" y="3383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endpoints, non-blocking pipeline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18508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MongoDB Atlas · ByteTrack · H.264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18508" y="4160520"/>
            <a:ext cx="31546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18508" y="4425696"/>
            <a:ext cx="54864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4655668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video upload with background processing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18508" y="4882896"/>
            <a:ext cx="54864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4655668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multi-object tracking for identity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18508" y="5340096"/>
            <a:ext cx="54864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4655668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H.264 (yuv420p) output — native browser playback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18508" y="5797296"/>
            <a:ext cx="54864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4655668" y="5669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transparent local JSON fallback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76108" y="210312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96148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8496148" y="3063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96148" y="3383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dark-themed SPA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496148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· Vite · Leaflet · Recharts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496148" y="4160520"/>
            <a:ext cx="31546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96148" y="4425696"/>
            <a:ext cx="54864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6" name="Text 44"/>
          <p:cNvSpPr/>
          <p:nvPr/>
        </p:nvSpPr>
        <p:spPr>
          <a:xfrm>
            <a:off x="8633308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&amp; road-health distribution charts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96148" y="4882896"/>
            <a:ext cx="54864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8" name="Text 46"/>
          <p:cNvSpPr/>
          <p:nvPr/>
        </p:nvSpPr>
        <p:spPr>
          <a:xfrm>
            <a:off x="8633308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analyzer — multi-file drag-and-drop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96148" y="5340096"/>
            <a:ext cx="54864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0" name="Text 48"/>
          <p:cNvSpPr/>
          <p:nvPr/>
        </p:nvSpPr>
        <p:spPr>
          <a:xfrm>
            <a:off x="8633308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tracker — real-time progress + playback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96148" y="5797296"/>
            <a:ext cx="54864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2" name="Text 50"/>
          <p:cNvSpPr/>
          <p:nvPr/>
        </p:nvSpPr>
        <p:spPr>
          <a:xfrm>
            <a:off x="8633308" y="5669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GPS heatmap — severity-coloured markers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EXPERIMENTAL RESULTS · MODEL BENCHMARK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mAP@0.5 of 91.23% at 2.6 million parameters.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25-epoch configuration versus 2-epoch baseline, evaluated on the held-out test split.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3688" y="210312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288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2288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91.23</a:t>
            </a: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2288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+56.6% vs 2e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5488" y="210312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4088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44088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64.02</a:t>
            </a: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444088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+112.2% vs 2e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7288" y="210312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15888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88.04</a:t>
            </a: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15888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+36.6% vs 2e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59088" y="210312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7688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87688" y="2514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81.05</a:t>
            </a: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387688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+51.8% vs 2e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11277295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BENCHMARK  COMPARISON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480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86200" y="44805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(25 epochs)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12280" y="44805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(2 epochs)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38360" y="4480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" y="4791456"/>
            <a:ext cx="10637215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73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86200" y="4773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0.8804  (88.04%)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4773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0.6443  (64.43%)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38360" y="4773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+36.6%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0657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86200" y="50657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0.8105  (81.05%)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50657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0.5342  (53.42%)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38360" y="5065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+51.8%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" y="53583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86200" y="53583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0.9123  (91.23%)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53583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0.5827  (58.27%)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38360" y="5358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+56.6%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7240" y="56509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86200" y="56509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0.6402  (64.02%)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12280" y="56509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0.3017  (30.17%)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38360" y="56509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+112.2%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5943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CPU latency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86200" y="59436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281.43 ms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12280" y="59436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279.53 ms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738360" y="5943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77240" y="62362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(CPU)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886200" y="6236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3.55 FPS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12280" y="6236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3.58 FPS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738360" y="6236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LIVE DETECTION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wild. Real Indian road footage.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692-frame sequence · 2,302 total detections · 5.5 FPS average on CPU.</a:t>
            </a:r>
            <a:endParaRPr lang="en-US" sz="1300" dirty="0"/>
          </a:p>
        </p:txBody>
      </p:sp>
      <p:pic>
        <p:nvPicPr>
          <p:cNvPr id="11" name="Image 0" descr="D:\Projects\IBM Internship\backend\static\outputs\severity_img_1783839683_input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03120"/>
            <a:ext cx="7589520" cy="4206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3550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frame · 17 potholes detected · widths 30 – 375 cm · overall alert: DANGER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 STATISTICS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0" y="246888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468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104120" y="24688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processed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0" y="30632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3063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2,302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104120" y="30632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detections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0" y="36576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181.9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104120" y="36576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frame avg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29600" y="42519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0" y="4251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0104120" y="4251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on CPU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321040" y="4937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BREAKDOWN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229600" y="5303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0" y="5532120"/>
            <a:ext cx="137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8641080" y="5440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829800" y="5440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852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744200" y="5440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412480" y="5916168"/>
            <a:ext cx="13716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0"/>
          <p:cNvSpPr/>
          <p:nvPr/>
        </p:nvSpPr>
        <p:spPr>
          <a:xfrm>
            <a:off x="8641080" y="5824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829800" y="58247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731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744200" y="58247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412480" y="6300216"/>
            <a:ext cx="137160" cy="1371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7" name="Text 34"/>
          <p:cNvSpPr/>
          <p:nvPr/>
        </p:nvSpPr>
        <p:spPr>
          <a:xfrm>
            <a:off x="8641080" y="62087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829800" y="62087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719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744200" y="62087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29600" y="6766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  </a:t>
            </a: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Avg width  </a:t>
            </a: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73.7 cm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918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CONCLUSION &amp; 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2975" y="256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 Pothole Detection &amp; Severity Analysis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76895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5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Production-grade accuracy on commodity hardware.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is immediately deployable in municipal road maintenance contexts.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model with a principled pipeline delivers actionable output.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611880"/>
            <a:ext cx="49834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3192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764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accuracy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91.23%, Precision = 88.04% at just 2.6 M params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59028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434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7274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Camera-geometry estimator gives real-world cm measurements — no 3D sensor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248656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932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3858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MongoDB persistence, React dashboard — not a notebook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907024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7515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in the wild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60441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Seven-stage FP pipeline handles Indian, US, and Japanese road conditions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1031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SCOPE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2697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PaveMind AI goes next.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0" y="3337560"/>
            <a:ext cx="4846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35478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547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349300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Inference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7764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CUDA server for 30+ FPS real-time video.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0" y="41148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405993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Monocular Depth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4343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MiDaS to replace geometric depth approximation.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0" y="468172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4681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462686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49103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field inspection teams.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0" y="52486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5248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95160" y="519379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Authority API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95160" y="54772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integration with automated SMS / email alerts.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583680" y="58155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5815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95160" y="5760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95160" y="60441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Hugging Face Spaces for public demo access.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38BDF8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3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27432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5394960"/>
            <a:ext cx="10515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 Khatri  ·  Ujjawal Gupta  ·  Arsh Rathi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 ·  AIML  ·  UPES Dehradun  ·  IBM SkillsBuild Internship  2025–26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2214</Words>
  <Application>Microsoft Office PowerPoint</Application>
  <PresentationFormat>Widescreen</PresentationFormat>
  <Paragraphs>431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UPES Dehradun · IBM SkillsBuild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PaveMind AI — Group 74 Presentation</dc:title>
  <dc:subject>PptxGenJS Presentation</dc:subject>
  <dc:creator>Aditya Khatri, Ujjawal Gupta, Arsh Rathi</dc:creator>
  <cp:lastModifiedBy>Aditya Khatri</cp:lastModifiedBy>
  <cp:revision>2</cp:revision>
  <dcterms:created xsi:type="dcterms:W3CDTF">2026-08-06T18:28:07Z</dcterms:created>
  <dcterms:modified xsi:type="dcterms:W3CDTF">2026-08-07T03:43:49Z</dcterms:modified>
</cp:coreProperties>
</file>